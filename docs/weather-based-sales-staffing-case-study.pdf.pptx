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5143500" cx="9144000"/>
  <p:notesSz cx="6858000" cy="9144000"/>
  <p:embeddedFontLst>
    <p:embeddedFont>
      <p:font typeface="Inter SemiBold"/>
      <p:regular r:id="rId19"/>
      <p:bold r:id="rId20"/>
      <p:italic r:id="rId21"/>
      <p:boldItalic r:id="rId22"/>
    </p:embeddedFont>
    <p:embeddedFont>
      <p:font typeface="Roboto"/>
      <p:regular r:id="rId23"/>
      <p:bold r:id="rId24"/>
      <p:italic r:id="rId25"/>
      <p:boldItalic r:id="rId26"/>
    </p:embeddedFont>
    <p:embeddedFont>
      <p:font typeface="Nunito"/>
      <p:regular r:id="rId27"/>
      <p:bold r:id="rId28"/>
      <p:italic r:id="rId29"/>
      <p:boldItalic r:id="rId30"/>
    </p:embeddedFont>
    <p:embeddedFont>
      <p:font typeface="Maven Pro"/>
      <p:regular r:id="rId31"/>
      <p:bold r:id="rId32"/>
    </p:embeddedFont>
    <p:embeddedFont>
      <p:font typeface="Spectral"/>
      <p:regular r:id="rId33"/>
      <p:bold r:id="rId34"/>
      <p:italic r:id="rId35"/>
      <p:boldItalic r:id="rId36"/>
    </p:embeddedFont>
    <p:embeddedFont>
      <p:font typeface="Playfair Display SemiBold"/>
      <p:regular r:id="rId37"/>
      <p:bold r:id="rId38"/>
      <p:italic r:id="rId39"/>
      <p:boldItalic r:id="rId40"/>
    </p:embeddedFont>
    <p:embeddedFont>
      <p:font typeface="Spectral ExtraBold"/>
      <p:bold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PlayfairDisplaySemiBold-boldItalic.fntdata"/><Relationship Id="rId20" Type="http://schemas.openxmlformats.org/officeDocument/2006/relationships/font" Target="fonts/InterSemiBold-bold.fntdata"/><Relationship Id="rId42" Type="http://schemas.openxmlformats.org/officeDocument/2006/relationships/font" Target="fonts/SpectralExtraBold-boldItalic.fntdata"/><Relationship Id="rId41" Type="http://schemas.openxmlformats.org/officeDocument/2006/relationships/font" Target="fonts/SpectralExtraBold-bold.fntdata"/><Relationship Id="rId22" Type="http://schemas.openxmlformats.org/officeDocument/2006/relationships/font" Target="fonts/InterSemiBold-boldItalic.fntdata"/><Relationship Id="rId21" Type="http://schemas.openxmlformats.org/officeDocument/2006/relationships/font" Target="fonts/InterSemiBold-italic.fntdata"/><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Nunito-bold.fntdata"/><Relationship Id="rId27" Type="http://schemas.openxmlformats.org/officeDocument/2006/relationships/font" Target="fonts/Nunito-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Nunito-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MavenPro-regular.fntdata"/><Relationship Id="rId30" Type="http://schemas.openxmlformats.org/officeDocument/2006/relationships/font" Target="fonts/Nunito-boldItalic.fntdata"/><Relationship Id="rId11" Type="http://schemas.openxmlformats.org/officeDocument/2006/relationships/slide" Target="slides/slide7.xml"/><Relationship Id="rId33" Type="http://schemas.openxmlformats.org/officeDocument/2006/relationships/font" Target="fonts/Spectral-regular.fntdata"/><Relationship Id="rId10" Type="http://schemas.openxmlformats.org/officeDocument/2006/relationships/slide" Target="slides/slide6.xml"/><Relationship Id="rId32" Type="http://schemas.openxmlformats.org/officeDocument/2006/relationships/font" Target="fonts/MavenPro-bold.fntdata"/><Relationship Id="rId13" Type="http://schemas.openxmlformats.org/officeDocument/2006/relationships/slide" Target="slides/slide9.xml"/><Relationship Id="rId35" Type="http://schemas.openxmlformats.org/officeDocument/2006/relationships/font" Target="fonts/Spectral-italic.fntdata"/><Relationship Id="rId12" Type="http://schemas.openxmlformats.org/officeDocument/2006/relationships/slide" Target="slides/slide8.xml"/><Relationship Id="rId34" Type="http://schemas.openxmlformats.org/officeDocument/2006/relationships/font" Target="fonts/Spectral-bold.fntdata"/><Relationship Id="rId15" Type="http://schemas.openxmlformats.org/officeDocument/2006/relationships/slide" Target="slides/slide11.xml"/><Relationship Id="rId37" Type="http://schemas.openxmlformats.org/officeDocument/2006/relationships/font" Target="fonts/PlayfairDisplaySemiBold-regular.fntdata"/><Relationship Id="rId14" Type="http://schemas.openxmlformats.org/officeDocument/2006/relationships/slide" Target="slides/slide10.xml"/><Relationship Id="rId36" Type="http://schemas.openxmlformats.org/officeDocument/2006/relationships/font" Target="fonts/Spectral-boldItalic.fntdata"/><Relationship Id="rId17" Type="http://schemas.openxmlformats.org/officeDocument/2006/relationships/slide" Target="slides/slide13.xml"/><Relationship Id="rId39" Type="http://schemas.openxmlformats.org/officeDocument/2006/relationships/font" Target="fonts/PlayfairDisplaySemiBold-italic.fntdata"/><Relationship Id="rId16" Type="http://schemas.openxmlformats.org/officeDocument/2006/relationships/slide" Target="slides/slide12.xml"/><Relationship Id="rId38" Type="http://schemas.openxmlformats.org/officeDocument/2006/relationships/font" Target="fonts/PlayfairDisplaySemiBold-bold.fntdata"/><Relationship Id="rId19" Type="http://schemas.openxmlformats.org/officeDocument/2006/relationships/font" Target="fonts/InterSemiBold-regular.fntdata"/><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ab58b304ba_0_29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ab58b304ba_0_29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6e7cf68d7d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6e7cf68d7d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ab58b304ba_0_3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ab58b304ba_0_3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ab58b304ba_0_4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ab58b304ba_0_4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ab58b304ba_0_4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ab58b304ba_0_4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ab58b304ba_0_4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ab58b304ba_0_4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ab58b304ba_0_4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ab58b304ba_0_4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ab58b304ba_0_4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ab58b304ba_0_4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ab58b304ba_0_4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ab58b304ba_0_4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ab58b304ba_0_4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ab58b304ba_0_4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ab58b304ba_0_4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ab58b304ba_0_4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ab58b304ba_0_4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ab58b304ba_0_4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ab58b304ba_0_4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ab58b304ba_0_4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ab58b304ba_0_4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ab58b304ba_0_4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76" name="Shape 276"/>
        <p:cNvGrpSpPr/>
        <p:nvPr/>
      </p:nvGrpSpPr>
      <p:grpSpPr>
        <a:xfrm>
          <a:off x="0" y="0"/>
          <a:ext cx="0" cy="0"/>
          <a:chOff x="0" y="0"/>
          <a:chExt cx="0" cy="0"/>
        </a:xfrm>
      </p:grpSpPr>
      <p:sp>
        <p:nvSpPr>
          <p:cNvPr id="277" name="Google Shape;277;p13"/>
          <p:cNvSpPr txBox="1"/>
          <p:nvPr>
            <p:ph type="ctrTitle"/>
          </p:nvPr>
        </p:nvSpPr>
        <p:spPr>
          <a:xfrm>
            <a:off x="681275" y="848625"/>
            <a:ext cx="3696600" cy="3776400"/>
          </a:xfrm>
          <a:prstGeom prst="rect">
            <a:avLst/>
          </a:prstGeom>
          <a:effectLst>
            <a:outerShdw blurRad="200025" rotWithShape="0" algn="bl" dir="16140000" dist="190500">
              <a:srgbClr val="000000"/>
            </a:outerShdw>
          </a:effectLst>
        </p:spPr>
        <p:txBody>
          <a:bodyPr anchorCtr="0" anchor="t" bIns="91425" lIns="91425" spcFirstLastPara="1" rIns="91425" wrap="square" tIns="0">
            <a:spAutoFit/>
          </a:bodyPr>
          <a:lstStyle/>
          <a:p>
            <a:pPr indent="0" lvl="0" marL="0" rtl="0" algn="ctr">
              <a:lnSpc>
                <a:spcPct val="150000"/>
              </a:lnSpc>
              <a:spcBef>
                <a:spcPts val="0"/>
              </a:spcBef>
              <a:spcAft>
                <a:spcPts val="0"/>
              </a:spcAft>
              <a:buNone/>
            </a:pPr>
            <a:r>
              <a:rPr lang="en" sz="2900">
                <a:solidFill>
                  <a:srgbClr val="1A1A1A"/>
                </a:solidFill>
                <a:latin typeface="Spectral"/>
                <a:ea typeface="Spectral"/>
                <a:cs typeface="Spectral"/>
                <a:sym typeface="Spectral"/>
              </a:rPr>
              <a:t>Automation of Weather-Based Sales and Staffing Decisions</a:t>
            </a:r>
            <a:endParaRPr sz="2900">
              <a:solidFill>
                <a:srgbClr val="1A1A1A"/>
              </a:solidFill>
              <a:latin typeface="Spectral"/>
              <a:ea typeface="Spectral"/>
              <a:cs typeface="Spectral"/>
              <a:sym typeface="Spectral"/>
            </a:endParaRPr>
          </a:p>
          <a:p>
            <a:pPr indent="0" lvl="0" marL="0" rtl="0" algn="ctr">
              <a:lnSpc>
                <a:spcPct val="115000"/>
              </a:lnSpc>
              <a:spcBef>
                <a:spcPts val="0"/>
              </a:spcBef>
              <a:spcAft>
                <a:spcPts val="0"/>
              </a:spcAft>
              <a:buNone/>
            </a:pPr>
            <a:r>
              <a:t/>
            </a:r>
            <a:endParaRPr b="0" sz="2900">
              <a:solidFill>
                <a:srgbClr val="1A1A1A"/>
              </a:solidFill>
              <a:latin typeface="Playfair Display SemiBold"/>
              <a:ea typeface="Playfair Display SemiBold"/>
              <a:cs typeface="Playfair Display SemiBold"/>
              <a:sym typeface="Playfair Display SemiBold"/>
            </a:endParaRPr>
          </a:p>
          <a:p>
            <a:pPr indent="0" lvl="0" marL="0" rtl="0" algn="ctr">
              <a:lnSpc>
                <a:spcPct val="115000"/>
              </a:lnSpc>
              <a:spcBef>
                <a:spcPts val="0"/>
              </a:spcBef>
              <a:spcAft>
                <a:spcPts val="0"/>
              </a:spcAft>
              <a:buNone/>
            </a:pPr>
            <a:r>
              <a:t/>
            </a:r>
            <a:endParaRPr b="0" i="1" sz="3200">
              <a:latin typeface="Playfair Display SemiBold"/>
              <a:ea typeface="Playfair Display SemiBold"/>
              <a:cs typeface="Playfair Display SemiBold"/>
              <a:sym typeface="Playfair Display SemiBold"/>
            </a:endParaRPr>
          </a:p>
        </p:txBody>
      </p:sp>
      <p:pic>
        <p:nvPicPr>
          <p:cNvPr id="278" name="Google Shape;278;p1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79" name="Google Shape;279;p13"/>
          <p:cNvSpPr txBox="1"/>
          <p:nvPr>
            <p:ph idx="1" type="subTitle"/>
          </p:nvPr>
        </p:nvSpPr>
        <p:spPr>
          <a:xfrm>
            <a:off x="4758275" y="4293700"/>
            <a:ext cx="4255500" cy="785100"/>
          </a:xfrm>
          <a:prstGeom prst="rect">
            <a:avLst/>
          </a:prstGeom>
        </p:spPr>
        <p:txBody>
          <a:bodyPr anchorCtr="0" anchor="t" bIns="91425" lIns="91425" spcFirstLastPara="1" rIns="91425" wrap="square" tIns="91425">
            <a:spAutoFit/>
          </a:bodyPr>
          <a:lstStyle/>
          <a:p>
            <a:pPr indent="0" lvl="0" marL="0" rtl="0" algn="r">
              <a:lnSpc>
                <a:spcPct val="150000"/>
              </a:lnSpc>
              <a:spcBef>
                <a:spcPts val="1000"/>
              </a:spcBef>
              <a:spcAft>
                <a:spcPts val="0"/>
              </a:spcAft>
              <a:buNone/>
            </a:pPr>
            <a:r>
              <a:rPr b="1" lang="en" sz="1800">
                <a:solidFill>
                  <a:srgbClr val="1A1A1A"/>
                </a:solidFill>
                <a:latin typeface="Spectral"/>
                <a:ea typeface="Spectral"/>
                <a:cs typeface="Spectral"/>
                <a:sym typeface="Spectral"/>
              </a:rPr>
              <a:t>Lesley Colon</a:t>
            </a:r>
            <a:endParaRPr b="1" sz="1800">
              <a:solidFill>
                <a:srgbClr val="1A1A1A"/>
              </a:solidFill>
              <a:latin typeface="Spectral"/>
              <a:ea typeface="Spectral"/>
              <a:cs typeface="Spectral"/>
              <a:sym typeface="Spectral"/>
            </a:endParaRPr>
          </a:p>
          <a:p>
            <a:pPr indent="0" lvl="0" marL="0" rtl="0" algn="r">
              <a:lnSpc>
                <a:spcPct val="150000"/>
              </a:lnSpc>
              <a:spcBef>
                <a:spcPts val="0"/>
              </a:spcBef>
              <a:spcAft>
                <a:spcPts val="0"/>
              </a:spcAft>
              <a:buNone/>
            </a:pPr>
            <a:r>
              <a:rPr b="1" lang="en" sz="1200">
                <a:solidFill>
                  <a:srgbClr val="2A2A2A"/>
                </a:solidFill>
                <a:latin typeface="Spectral"/>
                <a:ea typeface="Spectral"/>
                <a:cs typeface="Spectral"/>
                <a:sym typeface="Spectral"/>
              </a:rPr>
              <a:t>AI Automation | Project 5</a:t>
            </a:r>
            <a:endParaRPr b="1" sz="1200">
              <a:solidFill>
                <a:srgbClr val="2A2A2A"/>
              </a:solidFill>
              <a:latin typeface="Spectral"/>
              <a:ea typeface="Spectral"/>
              <a:cs typeface="Spectral"/>
              <a:sym typeface="Spectral"/>
            </a:endParaRPr>
          </a:p>
        </p:txBody>
      </p:sp>
      <p:pic>
        <p:nvPicPr>
          <p:cNvPr id="280" name="Google Shape;280;p13"/>
          <p:cNvPicPr preferRelativeResize="0"/>
          <p:nvPr/>
        </p:nvPicPr>
        <p:blipFill rotWithShape="1">
          <a:blip r:embed="rId4">
            <a:alphaModFix/>
          </a:blip>
          <a:srcRect b="10892" l="9237" r="10434" t="10570"/>
          <a:stretch/>
        </p:blipFill>
        <p:spPr>
          <a:xfrm>
            <a:off x="5408275" y="533550"/>
            <a:ext cx="2673925" cy="2614326"/>
          </a:xfrm>
          <a:prstGeom prst="rect">
            <a:avLst/>
          </a:prstGeom>
          <a:noFill/>
          <a:ln>
            <a:noFill/>
          </a:ln>
          <a:effectLst>
            <a:outerShdw blurRad="1428750" rotWithShape="0" algn="bl" dir="11940000" dist="514350">
              <a:srgbClr val="000000">
                <a:alpha val="9100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1000"/>
                                        <p:tgtEl>
                                          <p:spTgt spid="2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84" name="Shape 284"/>
        <p:cNvGrpSpPr/>
        <p:nvPr/>
      </p:nvGrpSpPr>
      <p:grpSpPr>
        <a:xfrm>
          <a:off x="0" y="0"/>
          <a:ext cx="0" cy="0"/>
          <a:chOff x="0" y="0"/>
          <a:chExt cx="0" cy="0"/>
        </a:xfrm>
      </p:grpSpPr>
      <p:sp>
        <p:nvSpPr>
          <p:cNvPr id="285" name="Google Shape;285;p14"/>
          <p:cNvSpPr txBox="1"/>
          <p:nvPr>
            <p:ph idx="1" type="subTitle"/>
          </p:nvPr>
        </p:nvSpPr>
        <p:spPr>
          <a:xfrm>
            <a:off x="566100" y="1844575"/>
            <a:ext cx="3659100" cy="2314200"/>
          </a:xfrm>
          <a:prstGeom prst="rect">
            <a:avLst/>
          </a:prstGeom>
        </p:spPr>
        <p:txBody>
          <a:bodyPr anchorCtr="0" anchor="b" bIns="91425" lIns="91425" spcFirstLastPara="1" rIns="91425" wrap="square" tIns="91425">
            <a:noAutofit/>
          </a:bodyPr>
          <a:lstStyle/>
          <a:p>
            <a:pPr indent="0" lvl="0" marL="0" rtl="0" algn="just">
              <a:lnSpc>
                <a:spcPct val="150000"/>
              </a:lnSpc>
              <a:spcBef>
                <a:spcPts val="1200"/>
              </a:spcBef>
              <a:spcAft>
                <a:spcPts val="1200"/>
              </a:spcAft>
              <a:buNone/>
            </a:pPr>
            <a:r>
              <a:rPr i="1" lang="en" sz="1200">
                <a:solidFill>
                  <a:srgbClr val="000000"/>
                </a:solidFill>
                <a:latin typeface="Spectral"/>
                <a:ea typeface="Spectral"/>
                <a:cs typeface="Spectral"/>
                <a:sym typeface="Spectral"/>
              </a:rPr>
              <a:t>Right now, the manager is spending 15+ minutes every morning manually checking weather forecasts, then making educated guesses about what products to stock and how many staff to schedule. Those delays mean missed opportunities. In a coastal city like Miami where weather changes fast, by the time the plan is ready, customers are already showing up. This automation solves that by making decisions instantly.</a:t>
            </a:r>
            <a:endParaRPr sz="2000">
              <a:solidFill>
                <a:srgbClr val="1A1A1A"/>
              </a:solidFill>
              <a:latin typeface="Spectral"/>
              <a:ea typeface="Spectral"/>
              <a:cs typeface="Spectral"/>
              <a:sym typeface="Spectral"/>
            </a:endParaRPr>
          </a:p>
        </p:txBody>
      </p:sp>
      <p:sp>
        <p:nvSpPr>
          <p:cNvPr id="286" name="Google Shape;286;p14"/>
          <p:cNvSpPr txBox="1"/>
          <p:nvPr/>
        </p:nvSpPr>
        <p:spPr>
          <a:xfrm>
            <a:off x="749375" y="681275"/>
            <a:ext cx="3000000" cy="507900"/>
          </a:xfrm>
          <a:prstGeom prst="rect">
            <a:avLst/>
          </a:prstGeom>
          <a:noFill/>
          <a:ln>
            <a:noFill/>
          </a:ln>
          <a:effectLst>
            <a:outerShdw blurRad="228600" rotWithShape="0" algn="bl" dir="11760000" dist="276225">
              <a:srgbClr val="000000"/>
            </a:outerShdw>
          </a:effectLst>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i="1" lang="en" sz="2100">
                <a:latin typeface="Spectral ExtraBold"/>
                <a:ea typeface="Spectral ExtraBold"/>
                <a:cs typeface="Spectral ExtraBold"/>
                <a:sym typeface="Spectral ExtraBold"/>
              </a:rPr>
              <a:t>The Problem</a:t>
            </a:r>
            <a:endParaRPr sz="2300">
              <a:latin typeface="Spectral ExtraBold"/>
              <a:ea typeface="Spectral ExtraBold"/>
              <a:cs typeface="Spectral ExtraBold"/>
              <a:sym typeface="Spectral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90" name="Shape 290"/>
        <p:cNvGrpSpPr/>
        <p:nvPr/>
      </p:nvGrpSpPr>
      <p:grpSpPr>
        <a:xfrm>
          <a:off x="0" y="0"/>
          <a:ext cx="0" cy="0"/>
          <a:chOff x="0" y="0"/>
          <a:chExt cx="0" cy="0"/>
        </a:xfrm>
      </p:grpSpPr>
      <p:sp>
        <p:nvSpPr>
          <p:cNvPr id="291" name="Google Shape;291;p15"/>
          <p:cNvSpPr txBox="1"/>
          <p:nvPr>
            <p:ph idx="1" type="subTitle"/>
          </p:nvPr>
        </p:nvSpPr>
        <p:spPr>
          <a:xfrm>
            <a:off x="600175" y="1555350"/>
            <a:ext cx="3659100" cy="2969700"/>
          </a:xfrm>
          <a:prstGeom prst="rect">
            <a:avLst/>
          </a:prstGeom>
        </p:spPr>
        <p:txBody>
          <a:bodyPr anchorCtr="0" anchor="b" bIns="91425" lIns="91425" spcFirstLastPara="1" rIns="91425" wrap="square" tIns="91425">
            <a:noAutofit/>
          </a:bodyPr>
          <a:lstStyle/>
          <a:p>
            <a:pPr indent="0" lvl="0" marL="0" rtl="0" algn="just">
              <a:lnSpc>
                <a:spcPct val="150000"/>
              </a:lnSpc>
              <a:spcBef>
                <a:spcPts val="1200"/>
              </a:spcBef>
              <a:spcAft>
                <a:spcPts val="0"/>
              </a:spcAft>
              <a:buNone/>
            </a:pPr>
            <a:r>
              <a:rPr i="1" lang="en" sz="1200">
                <a:solidFill>
                  <a:srgbClr val="000000"/>
                </a:solidFill>
                <a:latin typeface="Spectral"/>
                <a:ea typeface="Spectral"/>
                <a:cs typeface="Spectral"/>
                <a:sym typeface="Spectral"/>
              </a:rPr>
              <a:t> Instead of manual checking, we built an automated workflow that runs every single morning at 7:00 AM. It fetches the real-time weather from OpenWeather, uses Google's Gemini AI to interpret the forecast and generate smart recommendations—what products to focus on, how many staff to add, and two personalized promo messages—then sends it all in a friendly email to Emily before 7:30 AM. She has her full plan before opening</a:t>
            </a:r>
            <a:endParaRPr sz="2000">
              <a:solidFill>
                <a:srgbClr val="1A1A1A"/>
              </a:solidFill>
              <a:latin typeface="Inter SemiBold"/>
              <a:ea typeface="Inter SemiBold"/>
              <a:cs typeface="Inter SemiBold"/>
              <a:sym typeface="Inter SemiBold"/>
            </a:endParaRPr>
          </a:p>
          <a:p>
            <a:pPr indent="0" lvl="0" marL="0" rtl="0" algn="just">
              <a:lnSpc>
                <a:spcPct val="150000"/>
              </a:lnSpc>
              <a:spcBef>
                <a:spcPts val="1200"/>
              </a:spcBef>
              <a:spcAft>
                <a:spcPts val="1200"/>
              </a:spcAft>
              <a:buNone/>
            </a:pPr>
            <a:r>
              <a:t/>
            </a:r>
            <a:endParaRPr i="1" sz="1200">
              <a:solidFill>
                <a:srgbClr val="000000"/>
              </a:solidFill>
              <a:latin typeface="Spectral"/>
              <a:ea typeface="Spectral"/>
              <a:cs typeface="Spectral"/>
              <a:sym typeface="Spectral"/>
            </a:endParaRPr>
          </a:p>
        </p:txBody>
      </p:sp>
      <p:sp>
        <p:nvSpPr>
          <p:cNvPr id="292" name="Google Shape;292;p15"/>
          <p:cNvSpPr txBox="1"/>
          <p:nvPr/>
        </p:nvSpPr>
        <p:spPr>
          <a:xfrm>
            <a:off x="749375" y="681275"/>
            <a:ext cx="3000000" cy="507900"/>
          </a:xfrm>
          <a:prstGeom prst="rect">
            <a:avLst/>
          </a:prstGeom>
          <a:noFill/>
          <a:ln>
            <a:noFill/>
          </a:ln>
          <a:effectLst>
            <a:outerShdw blurRad="228600" rotWithShape="0" algn="bl" dir="11760000" dist="276225">
              <a:srgbClr val="000000"/>
            </a:outerShdw>
          </a:effectLst>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i="1" lang="en" sz="2100">
                <a:latin typeface="Spectral ExtraBold"/>
                <a:ea typeface="Spectral ExtraBold"/>
                <a:cs typeface="Spectral ExtraBold"/>
                <a:sym typeface="Spectral ExtraBold"/>
              </a:rPr>
              <a:t>Solution </a:t>
            </a:r>
            <a:endParaRPr sz="2300">
              <a:latin typeface="Spectral ExtraBold"/>
              <a:ea typeface="Spectral ExtraBold"/>
              <a:cs typeface="Spectral ExtraBold"/>
              <a:sym typeface="Spectral ExtraBo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96" name="Shape 296"/>
        <p:cNvGrpSpPr/>
        <p:nvPr/>
      </p:nvGrpSpPr>
      <p:grpSpPr>
        <a:xfrm>
          <a:off x="0" y="0"/>
          <a:ext cx="0" cy="0"/>
          <a:chOff x="0" y="0"/>
          <a:chExt cx="0" cy="0"/>
        </a:xfrm>
      </p:grpSpPr>
      <p:sp>
        <p:nvSpPr>
          <p:cNvPr id="297" name="Google Shape;297;p16"/>
          <p:cNvSpPr txBox="1"/>
          <p:nvPr>
            <p:ph idx="1" type="subTitle"/>
          </p:nvPr>
        </p:nvSpPr>
        <p:spPr>
          <a:xfrm>
            <a:off x="111500" y="1190775"/>
            <a:ext cx="3695700" cy="3998400"/>
          </a:xfrm>
          <a:prstGeom prst="rect">
            <a:avLst/>
          </a:prstGeom>
        </p:spPr>
        <p:txBody>
          <a:bodyPr anchorCtr="0" anchor="b" bIns="91425" lIns="91425" spcFirstLastPara="1" rIns="91425" wrap="square" tIns="91425">
            <a:noAutofit/>
          </a:bodyPr>
          <a:lstStyle/>
          <a:p>
            <a:pPr indent="0" lvl="0" marL="0" rtl="0" algn="just">
              <a:lnSpc>
                <a:spcPct val="150000"/>
              </a:lnSpc>
              <a:spcBef>
                <a:spcPts val="1200"/>
              </a:spcBef>
              <a:spcAft>
                <a:spcPts val="0"/>
              </a:spcAft>
              <a:buNone/>
            </a:pPr>
            <a:r>
              <a:rPr i="1" lang="en" sz="1200">
                <a:solidFill>
                  <a:srgbClr val="000000"/>
                </a:solidFill>
                <a:latin typeface="Spectral"/>
                <a:ea typeface="Spectral"/>
                <a:cs typeface="Spectral"/>
                <a:sym typeface="Spectral"/>
              </a:rPr>
              <a:t> </a:t>
            </a:r>
            <a:r>
              <a:rPr i="1" lang="en" sz="1200">
                <a:solidFill>
                  <a:srgbClr val="000000"/>
                </a:solidFill>
                <a:latin typeface="Spectral"/>
                <a:ea typeface="Spectral"/>
                <a:cs typeface="Spectral"/>
                <a:sym typeface="Spectral"/>
              </a:rPr>
              <a:t> </a:t>
            </a:r>
            <a:r>
              <a:rPr i="1" lang="en" sz="900">
                <a:solidFill>
                  <a:srgbClr val="000000"/>
                </a:solidFill>
                <a:latin typeface="Spectral"/>
                <a:ea typeface="Spectral"/>
                <a:cs typeface="Spectral"/>
                <a:sym typeface="Spectral"/>
              </a:rPr>
              <a:t>The workflow starts with a Zapier Schedule trigger that runs every day at 7:00 AM, ensuring the process kicks off before the kiosk opens. It first calls the OpenWeather API via Webhooks by Zapier to fetch live weather data for Miami, including temperature in Fahrenheit and a short description like “scattered thunderstorms,” which becomes the context for all later decisions. That data is passed into a Google AI (Gemini) step, where a structured prompt instructs the model to generate three outputs: a product focus recommendation across hot drinks, cold drinks, gelato, and pastries; a staffing suggestion indicating whether to add, reduce, or keep staffing the same; and two short, weather-tailored promotional messages under 120 characters each. The AI’s response, along with the raw weather values, is then merged into a formatted Gmail message addressed to the manager, Emily Davis, with a clear subject line and friendly body that summarizes the weather, recommends the product mix and staffing, and includes ready-to-use promos. Finally, an optional Zapier Filter watches for severe conditions—temperature above 91°F or descriptions containing “storm” or “rain”—and, when triggered, sends a separate alert email with guidance on how to adjust operations for extreme weather.</a:t>
            </a:r>
            <a:endParaRPr i="1" sz="900">
              <a:solidFill>
                <a:srgbClr val="000000"/>
              </a:solidFill>
              <a:latin typeface="Spectral"/>
              <a:ea typeface="Spectral"/>
              <a:cs typeface="Spectral"/>
              <a:sym typeface="Spectral"/>
            </a:endParaRPr>
          </a:p>
          <a:p>
            <a:pPr indent="0" lvl="0" marL="0" rtl="0" algn="just">
              <a:lnSpc>
                <a:spcPct val="150000"/>
              </a:lnSpc>
              <a:spcBef>
                <a:spcPts val="1200"/>
              </a:spcBef>
              <a:spcAft>
                <a:spcPts val="1200"/>
              </a:spcAft>
              <a:buNone/>
            </a:pPr>
            <a:r>
              <a:t/>
            </a:r>
            <a:endParaRPr i="1" sz="1200">
              <a:solidFill>
                <a:srgbClr val="000000"/>
              </a:solidFill>
              <a:latin typeface="Spectral"/>
              <a:ea typeface="Spectral"/>
              <a:cs typeface="Spectral"/>
              <a:sym typeface="Spectral"/>
            </a:endParaRPr>
          </a:p>
        </p:txBody>
      </p:sp>
      <p:sp>
        <p:nvSpPr>
          <p:cNvPr id="298" name="Google Shape;298;p16"/>
          <p:cNvSpPr txBox="1"/>
          <p:nvPr/>
        </p:nvSpPr>
        <p:spPr>
          <a:xfrm>
            <a:off x="459350" y="86775"/>
            <a:ext cx="3000000" cy="507900"/>
          </a:xfrm>
          <a:prstGeom prst="rect">
            <a:avLst/>
          </a:prstGeom>
          <a:noFill/>
          <a:ln>
            <a:noFill/>
          </a:ln>
          <a:effectLst>
            <a:outerShdw blurRad="228600" rotWithShape="0" algn="bl" dir="11760000" dist="276225">
              <a:srgbClr val="000000"/>
            </a:outerShdw>
          </a:effectLst>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i="1" lang="en" sz="2100">
                <a:latin typeface="Spectral ExtraBold"/>
                <a:ea typeface="Spectral ExtraBold"/>
                <a:cs typeface="Spectral ExtraBold"/>
                <a:sym typeface="Spectral ExtraBold"/>
              </a:rPr>
              <a:t>Workflow</a:t>
            </a:r>
            <a:r>
              <a:rPr i="1" lang="en" sz="2100">
                <a:latin typeface="Spectral ExtraBold"/>
                <a:ea typeface="Spectral ExtraBold"/>
                <a:cs typeface="Spectral ExtraBold"/>
                <a:sym typeface="Spectral ExtraBold"/>
              </a:rPr>
              <a:t> </a:t>
            </a:r>
            <a:endParaRPr sz="2300">
              <a:latin typeface="Spectral ExtraBold"/>
              <a:ea typeface="Spectral ExtraBold"/>
              <a:cs typeface="Spectral ExtraBold"/>
              <a:sym typeface="Spectral ExtraBold"/>
            </a:endParaRPr>
          </a:p>
        </p:txBody>
      </p:sp>
      <p:pic>
        <p:nvPicPr>
          <p:cNvPr id="299" name="Google Shape;299;p16"/>
          <p:cNvPicPr preferRelativeResize="0"/>
          <p:nvPr/>
        </p:nvPicPr>
        <p:blipFill>
          <a:blip r:embed="rId3">
            <a:alphaModFix/>
          </a:blip>
          <a:stretch>
            <a:fillRect/>
          </a:stretch>
        </p:blipFill>
        <p:spPr>
          <a:xfrm>
            <a:off x="3834456" y="576375"/>
            <a:ext cx="5198868" cy="3998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03" name="Shape 303"/>
        <p:cNvGrpSpPr/>
        <p:nvPr/>
      </p:nvGrpSpPr>
      <p:grpSpPr>
        <a:xfrm>
          <a:off x="0" y="0"/>
          <a:ext cx="0" cy="0"/>
          <a:chOff x="0" y="0"/>
          <a:chExt cx="0" cy="0"/>
        </a:xfrm>
      </p:grpSpPr>
      <p:sp>
        <p:nvSpPr>
          <p:cNvPr id="304" name="Google Shape;304;p17"/>
          <p:cNvSpPr txBox="1"/>
          <p:nvPr>
            <p:ph idx="1" type="subTitle"/>
          </p:nvPr>
        </p:nvSpPr>
        <p:spPr>
          <a:xfrm>
            <a:off x="94475" y="3459150"/>
            <a:ext cx="3695700" cy="1764000"/>
          </a:xfrm>
          <a:prstGeom prst="rect">
            <a:avLst/>
          </a:prstGeom>
        </p:spPr>
        <p:txBody>
          <a:bodyPr anchorCtr="0" anchor="b" bIns="91425" lIns="91425" spcFirstLastPara="1" rIns="91425" wrap="square" tIns="91425">
            <a:noAutofit/>
          </a:bodyPr>
          <a:lstStyle/>
          <a:p>
            <a:pPr indent="0" lvl="0" marL="0" rtl="0" algn="just">
              <a:lnSpc>
                <a:spcPct val="150000"/>
              </a:lnSpc>
              <a:spcBef>
                <a:spcPts val="1200"/>
              </a:spcBef>
              <a:spcAft>
                <a:spcPts val="1200"/>
              </a:spcAft>
              <a:buNone/>
            </a:pPr>
            <a:r>
              <a:rPr i="1" lang="en" sz="1200">
                <a:solidFill>
                  <a:srgbClr val="000000"/>
                </a:solidFill>
                <a:latin typeface="Spectral"/>
                <a:ea typeface="Spectral"/>
                <a:cs typeface="Spectral"/>
                <a:sym typeface="Spectral"/>
              </a:rPr>
              <a:t> </a:t>
            </a:r>
            <a:endParaRPr i="1" sz="1200">
              <a:solidFill>
                <a:srgbClr val="000000"/>
              </a:solidFill>
              <a:latin typeface="Spectral"/>
              <a:ea typeface="Spectral"/>
              <a:cs typeface="Spectral"/>
              <a:sym typeface="Spectral"/>
            </a:endParaRPr>
          </a:p>
        </p:txBody>
      </p:sp>
      <p:sp>
        <p:nvSpPr>
          <p:cNvPr id="305" name="Google Shape;305;p17"/>
          <p:cNvSpPr txBox="1"/>
          <p:nvPr/>
        </p:nvSpPr>
        <p:spPr>
          <a:xfrm>
            <a:off x="161300" y="120825"/>
            <a:ext cx="5391900" cy="2593500"/>
          </a:xfrm>
          <a:prstGeom prst="rect">
            <a:avLst/>
          </a:prstGeom>
          <a:noFill/>
          <a:ln>
            <a:noFill/>
          </a:ln>
          <a:effectLst>
            <a:outerShdw blurRad="228600" rotWithShape="0" algn="bl" dir="11760000" dist="276225">
              <a:srgbClr val="000000"/>
            </a:outerShdw>
          </a:effectLst>
        </p:spPr>
        <p:txBody>
          <a:bodyPr anchorCtr="0" anchor="t" bIns="91425" lIns="91425" spcFirstLastPara="1" rIns="91425" wrap="square" tIns="91425">
            <a:spAutoFit/>
          </a:bodyPr>
          <a:lstStyle/>
          <a:p>
            <a:pPr indent="0" lvl="0" marL="0" rtl="0" algn="just">
              <a:lnSpc>
                <a:spcPct val="150000"/>
              </a:lnSpc>
              <a:spcBef>
                <a:spcPts val="1200"/>
              </a:spcBef>
              <a:spcAft>
                <a:spcPts val="0"/>
              </a:spcAft>
              <a:buNone/>
            </a:pPr>
            <a:r>
              <a:rPr i="1" lang="en" sz="2300">
                <a:latin typeface="Spectral ExtraBold"/>
                <a:ea typeface="Spectral ExtraBold"/>
                <a:cs typeface="Spectral ExtraBold"/>
                <a:sym typeface="Spectral ExtraBold"/>
              </a:rPr>
              <a:t>Workflow In</a:t>
            </a:r>
            <a:r>
              <a:rPr i="1" lang="en" sz="2100">
                <a:latin typeface="Spectral ExtraBold"/>
                <a:ea typeface="Spectral ExtraBold"/>
                <a:cs typeface="Spectral ExtraBold"/>
                <a:sym typeface="Spectral ExtraBold"/>
              </a:rPr>
              <a:t> </a:t>
            </a:r>
            <a:r>
              <a:rPr i="1" lang="en" sz="2300">
                <a:latin typeface="Spectral ExtraBold"/>
                <a:ea typeface="Spectral ExtraBold"/>
                <a:cs typeface="Spectral ExtraBold"/>
                <a:sym typeface="Spectral ExtraBold"/>
              </a:rPr>
              <a:t>Action</a:t>
            </a:r>
            <a:endParaRPr i="1" sz="2300">
              <a:latin typeface="Spectral ExtraBold"/>
              <a:ea typeface="Spectral ExtraBold"/>
              <a:cs typeface="Spectral ExtraBold"/>
              <a:sym typeface="Spectral ExtraBold"/>
            </a:endParaRPr>
          </a:p>
          <a:p>
            <a:pPr indent="0" lvl="0" marL="0" rtl="0" algn="just">
              <a:lnSpc>
                <a:spcPct val="150000"/>
              </a:lnSpc>
              <a:spcBef>
                <a:spcPts val="1200"/>
              </a:spcBef>
              <a:spcAft>
                <a:spcPts val="0"/>
              </a:spcAft>
              <a:buNone/>
            </a:pPr>
            <a:r>
              <a:t/>
            </a:r>
            <a:endParaRPr i="1" sz="2300">
              <a:latin typeface="Spectral ExtraBold"/>
              <a:ea typeface="Spectral ExtraBold"/>
              <a:cs typeface="Spectral ExtraBold"/>
              <a:sym typeface="Spectral ExtraBold"/>
            </a:endParaRPr>
          </a:p>
          <a:p>
            <a:pPr indent="0" lvl="0" marL="0" rtl="0" algn="just">
              <a:lnSpc>
                <a:spcPct val="150000"/>
              </a:lnSpc>
              <a:spcBef>
                <a:spcPts val="1200"/>
              </a:spcBef>
              <a:spcAft>
                <a:spcPts val="0"/>
              </a:spcAft>
              <a:buNone/>
            </a:pPr>
            <a:r>
              <a:t/>
            </a:r>
            <a:endParaRPr i="1" sz="2300">
              <a:latin typeface="Spectral ExtraBold"/>
              <a:ea typeface="Spectral ExtraBold"/>
              <a:cs typeface="Spectral ExtraBold"/>
              <a:sym typeface="Spectral ExtraBold"/>
            </a:endParaRPr>
          </a:p>
          <a:p>
            <a:pPr indent="0" lvl="0" marL="0" rtl="0" algn="just">
              <a:lnSpc>
                <a:spcPct val="150000"/>
              </a:lnSpc>
              <a:spcBef>
                <a:spcPts val="1200"/>
              </a:spcBef>
              <a:spcAft>
                <a:spcPts val="1200"/>
              </a:spcAft>
              <a:buNone/>
            </a:pPr>
            <a:r>
              <a:rPr i="1" lang="en" sz="2300">
                <a:latin typeface="Spectral ExtraBold"/>
                <a:ea typeface="Spectral ExtraBold"/>
                <a:cs typeface="Spectral ExtraBold"/>
                <a:sym typeface="Spectral ExtraBold"/>
              </a:rPr>
              <a:t>Gemini Prompt:</a:t>
            </a:r>
            <a:endParaRPr i="1" sz="2300">
              <a:latin typeface="Spectral ExtraBold"/>
              <a:ea typeface="Spectral ExtraBold"/>
              <a:cs typeface="Spectral ExtraBold"/>
              <a:sym typeface="Spectral ExtraBold"/>
            </a:endParaRPr>
          </a:p>
        </p:txBody>
      </p:sp>
      <p:pic>
        <p:nvPicPr>
          <p:cNvPr id="306" name="Google Shape;306;p17"/>
          <p:cNvPicPr preferRelativeResize="0"/>
          <p:nvPr/>
        </p:nvPicPr>
        <p:blipFill>
          <a:blip r:embed="rId3">
            <a:alphaModFix/>
          </a:blip>
          <a:stretch>
            <a:fillRect/>
          </a:stretch>
        </p:blipFill>
        <p:spPr>
          <a:xfrm>
            <a:off x="2870600" y="0"/>
            <a:ext cx="6273400" cy="5143501"/>
          </a:xfrm>
          <a:prstGeom prst="rect">
            <a:avLst/>
          </a:prstGeom>
          <a:solidFill>
            <a:schemeClr val="lt1"/>
          </a:solid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10" name="Shape 310"/>
        <p:cNvGrpSpPr/>
        <p:nvPr/>
      </p:nvGrpSpPr>
      <p:grpSpPr>
        <a:xfrm>
          <a:off x="0" y="0"/>
          <a:ext cx="0" cy="0"/>
          <a:chOff x="0" y="0"/>
          <a:chExt cx="0" cy="0"/>
        </a:xfrm>
      </p:grpSpPr>
      <p:sp>
        <p:nvSpPr>
          <p:cNvPr id="311" name="Google Shape;311;p18"/>
          <p:cNvSpPr txBox="1"/>
          <p:nvPr>
            <p:ph idx="1" type="subTitle"/>
          </p:nvPr>
        </p:nvSpPr>
        <p:spPr>
          <a:xfrm>
            <a:off x="94475" y="1224850"/>
            <a:ext cx="3695700" cy="3998400"/>
          </a:xfrm>
          <a:prstGeom prst="rect">
            <a:avLst/>
          </a:prstGeom>
        </p:spPr>
        <p:txBody>
          <a:bodyPr anchorCtr="0" anchor="b" bIns="91425" lIns="91425" spcFirstLastPara="1" rIns="91425" wrap="square" tIns="91425">
            <a:noAutofit/>
          </a:bodyPr>
          <a:lstStyle/>
          <a:p>
            <a:pPr indent="0" lvl="0" marL="0" rtl="0" algn="just">
              <a:lnSpc>
                <a:spcPct val="150000"/>
              </a:lnSpc>
              <a:spcBef>
                <a:spcPts val="1200"/>
              </a:spcBef>
              <a:spcAft>
                <a:spcPts val="1200"/>
              </a:spcAft>
              <a:buNone/>
            </a:pPr>
            <a:r>
              <a:rPr i="1" lang="en" sz="1200">
                <a:solidFill>
                  <a:srgbClr val="000000"/>
                </a:solidFill>
                <a:latin typeface="Spectral"/>
                <a:ea typeface="Spectral"/>
                <a:cs typeface="Spectral"/>
                <a:sym typeface="Spectral"/>
              </a:rPr>
              <a:t>  </a:t>
            </a:r>
            <a:r>
              <a:rPr i="1" lang="en" sz="900">
                <a:solidFill>
                  <a:srgbClr val="000000"/>
                </a:solidFill>
                <a:latin typeface="Spectral"/>
                <a:ea typeface="Spectral"/>
                <a:cs typeface="Spectral"/>
                <a:sym typeface="Spectral"/>
              </a:rPr>
              <a:t>T</a:t>
            </a:r>
            <a:endParaRPr i="1" sz="1200">
              <a:solidFill>
                <a:srgbClr val="000000"/>
              </a:solidFill>
              <a:latin typeface="Spectral"/>
              <a:ea typeface="Spectral"/>
              <a:cs typeface="Spectral"/>
              <a:sym typeface="Spectral"/>
            </a:endParaRPr>
          </a:p>
        </p:txBody>
      </p:sp>
      <p:sp>
        <p:nvSpPr>
          <p:cNvPr id="312" name="Google Shape;312;p18"/>
          <p:cNvSpPr txBox="1"/>
          <p:nvPr/>
        </p:nvSpPr>
        <p:spPr>
          <a:xfrm>
            <a:off x="161800" y="308325"/>
            <a:ext cx="1329300" cy="569400"/>
          </a:xfrm>
          <a:prstGeom prst="rect">
            <a:avLst/>
          </a:prstGeom>
          <a:noFill/>
          <a:ln>
            <a:noFill/>
          </a:ln>
          <a:effectLst>
            <a:outerShdw blurRad="228600" rotWithShape="0" algn="bl" dir="11760000" dist="276225">
              <a:srgbClr val="000000"/>
            </a:outerShdw>
          </a:effectLst>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t/>
            </a:r>
            <a:endParaRPr sz="2500">
              <a:latin typeface="Spectral ExtraBold"/>
              <a:ea typeface="Spectral ExtraBold"/>
              <a:cs typeface="Spectral ExtraBold"/>
              <a:sym typeface="Spectral ExtraBold"/>
            </a:endParaRPr>
          </a:p>
        </p:txBody>
      </p:sp>
      <p:pic>
        <p:nvPicPr>
          <p:cNvPr id="313" name="Google Shape;313;p18"/>
          <p:cNvPicPr preferRelativeResize="0"/>
          <p:nvPr/>
        </p:nvPicPr>
        <p:blipFill>
          <a:blip r:embed="rId3">
            <a:alphaModFix/>
          </a:blip>
          <a:stretch>
            <a:fillRect/>
          </a:stretch>
        </p:blipFill>
        <p:spPr>
          <a:xfrm>
            <a:off x="-12" y="0"/>
            <a:ext cx="7571274" cy="51435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17" name="Shape 317"/>
        <p:cNvGrpSpPr/>
        <p:nvPr/>
      </p:nvGrpSpPr>
      <p:grpSpPr>
        <a:xfrm>
          <a:off x="0" y="0"/>
          <a:ext cx="0" cy="0"/>
          <a:chOff x="0" y="0"/>
          <a:chExt cx="0" cy="0"/>
        </a:xfrm>
      </p:grpSpPr>
      <p:sp>
        <p:nvSpPr>
          <p:cNvPr id="318" name="Google Shape;318;p19"/>
          <p:cNvSpPr txBox="1"/>
          <p:nvPr>
            <p:ph idx="1" type="subTitle"/>
          </p:nvPr>
        </p:nvSpPr>
        <p:spPr>
          <a:xfrm>
            <a:off x="94475" y="1224850"/>
            <a:ext cx="3695700" cy="3998400"/>
          </a:xfrm>
          <a:prstGeom prst="rect">
            <a:avLst/>
          </a:prstGeom>
        </p:spPr>
        <p:txBody>
          <a:bodyPr anchorCtr="0" anchor="b" bIns="91425" lIns="91425" spcFirstLastPara="1" rIns="91425" wrap="square" tIns="91425">
            <a:noAutofit/>
          </a:bodyPr>
          <a:lstStyle/>
          <a:p>
            <a:pPr indent="0" lvl="0" marL="0" rtl="0" algn="just">
              <a:lnSpc>
                <a:spcPct val="150000"/>
              </a:lnSpc>
              <a:spcBef>
                <a:spcPts val="1200"/>
              </a:spcBef>
              <a:spcAft>
                <a:spcPts val="1200"/>
              </a:spcAft>
              <a:buNone/>
            </a:pPr>
            <a:r>
              <a:rPr i="1" lang="en" sz="1200">
                <a:solidFill>
                  <a:srgbClr val="000000"/>
                </a:solidFill>
                <a:latin typeface="Spectral"/>
                <a:ea typeface="Spectral"/>
                <a:cs typeface="Spectral"/>
                <a:sym typeface="Spectral"/>
              </a:rPr>
              <a:t>  </a:t>
            </a:r>
            <a:r>
              <a:rPr i="1" lang="en" sz="900">
                <a:solidFill>
                  <a:srgbClr val="000000"/>
                </a:solidFill>
                <a:latin typeface="Spectral"/>
                <a:ea typeface="Spectral"/>
                <a:cs typeface="Spectral"/>
                <a:sym typeface="Spectral"/>
              </a:rPr>
              <a:t>T</a:t>
            </a:r>
            <a:endParaRPr i="1" sz="1200">
              <a:solidFill>
                <a:srgbClr val="000000"/>
              </a:solidFill>
              <a:latin typeface="Spectral"/>
              <a:ea typeface="Spectral"/>
              <a:cs typeface="Spectral"/>
              <a:sym typeface="Spectral"/>
            </a:endParaRPr>
          </a:p>
        </p:txBody>
      </p:sp>
      <p:sp>
        <p:nvSpPr>
          <p:cNvPr id="319" name="Google Shape;319;p19"/>
          <p:cNvSpPr txBox="1"/>
          <p:nvPr/>
        </p:nvSpPr>
        <p:spPr>
          <a:xfrm>
            <a:off x="161800" y="308325"/>
            <a:ext cx="1329300" cy="569400"/>
          </a:xfrm>
          <a:prstGeom prst="rect">
            <a:avLst/>
          </a:prstGeom>
          <a:noFill/>
          <a:ln>
            <a:noFill/>
          </a:ln>
          <a:effectLst>
            <a:outerShdw blurRad="228600" rotWithShape="0" algn="bl" dir="11760000" dist="276225">
              <a:srgbClr val="000000"/>
            </a:outerShdw>
          </a:effectLst>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t/>
            </a:r>
            <a:endParaRPr sz="2500">
              <a:latin typeface="Spectral ExtraBold"/>
              <a:ea typeface="Spectral ExtraBold"/>
              <a:cs typeface="Spectral ExtraBold"/>
              <a:sym typeface="Spectral ExtraBold"/>
            </a:endParaRPr>
          </a:p>
        </p:txBody>
      </p:sp>
      <p:pic>
        <p:nvPicPr>
          <p:cNvPr id="320" name="Google Shape;320;p19"/>
          <p:cNvPicPr preferRelativeResize="0"/>
          <p:nvPr/>
        </p:nvPicPr>
        <p:blipFill>
          <a:blip r:embed="rId3">
            <a:alphaModFix/>
          </a:blip>
          <a:stretch>
            <a:fillRect/>
          </a:stretch>
        </p:blipFill>
        <p:spPr>
          <a:xfrm>
            <a:off x="94475" y="911775"/>
            <a:ext cx="8839199" cy="331994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24" name="Shape 324"/>
        <p:cNvGrpSpPr/>
        <p:nvPr/>
      </p:nvGrpSpPr>
      <p:grpSpPr>
        <a:xfrm>
          <a:off x="0" y="0"/>
          <a:ext cx="0" cy="0"/>
          <a:chOff x="0" y="0"/>
          <a:chExt cx="0" cy="0"/>
        </a:xfrm>
      </p:grpSpPr>
      <p:sp>
        <p:nvSpPr>
          <p:cNvPr id="325" name="Google Shape;325;p20"/>
          <p:cNvSpPr txBox="1"/>
          <p:nvPr>
            <p:ph idx="1" type="subTitle"/>
          </p:nvPr>
        </p:nvSpPr>
        <p:spPr>
          <a:xfrm>
            <a:off x="94475" y="1224850"/>
            <a:ext cx="3695700" cy="3998400"/>
          </a:xfrm>
          <a:prstGeom prst="rect">
            <a:avLst/>
          </a:prstGeom>
        </p:spPr>
        <p:txBody>
          <a:bodyPr anchorCtr="0" anchor="b" bIns="91425" lIns="91425" spcFirstLastPara="1" rIns="91425" wrap="square" tIns="91425">
            <a:noAutofit/>
          </a:bodyPr>
          <a:lstStyle/>
          <a:p>
            <a:pPr indent="0" lvl="0" marL="0" rtl="0" algn="just">
              <a:lnSpc>
                <a:spcPct val="150000"/>
              </a:lnSpc>
              <a:spcBef>
                <a:spcPts val="1200"/>
              </a:spcBef>
              <a:spcAft>
                <a:spcPts val="1200"/>
              </a:spcAft>
              <a:buNone/>
            </a:pPr>
            <a:r>
              <a:rPr i="1" lang="en" sz="1200">
                <a:solidFill>
                  <a:srgbClr val="000000"/>
                </a:solidFill>
                <a:latin typeface="Spectral"/>
                <a:ea typeface="Spectral"/>
                <a:cs typeface="Spectral"/>
                <a:sym typeface="Spectral"/>
              </a:rPr>
              <a:t>  </a:t>
            </a:r>
            <a:r>
              <a:rPr i="1" lang="en" sz="900">
                <a:solidFill>
                  <a:srgbClr val="000000"/>
                </a:solidFill>
                <a:latin typeface="Spectral"/>
                <a:ea typeface="Spectral"/>
                <a:cs typeface="Spectral"/>
                <a:sym typeface="Spectral"/>
              </a:rPr>
              <a:t>T</a:t>
            </a:r>
            <a:endParaRPr i="1" sz="1200">
              <a:solidFill>
                <a:srgbClr val="000000"/>
              </a:solidFill>
              <a:latin typeface="Spectral"/>
              <a:ea typeface="Spectral"/>
              <a:cs typeface="Spectral"/>
              <a:sym typeface="Spectral"/>
            </a:endParaRPr>
          </a:p>
        </p:txBody>
      </p:sp>
      <p:sp>
        <p:nvSpPr>
          <p:cNvPr id="326" name="Google Shape;326;p20"/>
          <p:cNvSpPr txBox="1"/>
          <p:nvPr/>
        </p:nvSpPr>
        <p:spPr>
          <a:xfrm>
            <a:off x="161800" y="308325"/>
            <a:ext cx="1329300" cy="569400"/>
          </a:xfrm>
          <a:prstGeom prst="rect">
            <a:avLst/>
          </a:prstGeom>
          <a:noFill/>
          <a:ln>
            <a:noFill/>
          </a:ln>
          <a:effectLst>
            <a:outerShdw blurRad="228600" rotWithShape="0" algn="bl" dir="11760000" dist="276225">
              <a:srgbClr val="000000"/>
            </a:outerShdw>
          </a:effectLst>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t/>
            </a:r>
            <a:endParaRPr sz="2500">
              <a:latin typeface="Spectral ExtraBold"/>
              <a:ea typeface="Spectral ExtraBold"/>
              <a:cs typeface="Spectral ExtraBold"/>
              <a:sym typeface="Spectral ExtraBold"/>
            </a:endParaRPr>
          </a:p>
        </p:txBody>
      </p:sp>
      <p:pic>
        <p:nvPicPr>
          <p:cNvPr id="327" name="Google Shape;327;p20"/>
          <p:cNvPicPr preferRelativeResize="0"/>
          <p:nvPr/>
        </p:nvPicPr>
        <p:blipFill>
          <a:blip r:embed="rId3">
            <a:alphaModFix/>
          </a:blip>
          <a:stretch>
            <a:fillRect/>
          </a:stretch>
        </p:blipFill>
        <p:spPr>
          <a:xfrm>
            <a:off x="1540475" y="1302000"/>
            <a:ext cx="5610225" cy="2286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31" name="Shape 331"/>
        <p:cNvGrpSpPr/>
        <p:nvPr/>
      </p:nvGrpSpPr>
      <p:grpSpPr>
        <a:xfrm>
          <a:off x="0" y="0"/>
          <a:ext cx="0" cy="0"/>
          <a:chOff x="0" y="0"/>
          <a:chExt cx="0" cy="0"/>
        </a:xfrm>
      </p:grpSpPr>
      <p:sp>
        <p:nvSpPr>
          <p:cNvPr id="332" name="Google Shape;332;p21"/>
          <p:cNvSpPr txBox="1"/>
          <p:nvPr>
            <p:ph idx="1" type="subTitle"/>
          </p:nvPr>
        </p:nvSpPr>
        <p:spPr>
          <a:xfrm>
            <a:off x="600175" y="1086900"/>
            <a:ext cx="4671900" cy="2969700"/>
          </a:xfrm>
          <a:prstGeom prst="rect">
            <a:avLst/>
          </a:prstGeom>
        </p:spPr>
        <p:txBody>
          <a:bodyPr anchorCtr="0" anchor="b" bIns="91425" lIns="91425" spcFirstLastPara="1" rIns="91425" wrap="square" tIns="91425">
            <a:noAutofit/>
          </a:bodyPr>
          <a:lstStyle/>
          <a:p>
            <a:pPr indent="0" lvl="0" marL="0" rtl="0" algn="just">
              <a:lnSpc>
                <a:spcPct val="150000"/>
              </a:lnSpc>
              <a:spcBef>
                <a:spcPts val="1200"/>
              </a:spcBef>
              <a:spcAft>
                <a:spcPts val="1200"/>
              </a:spcAft>
              <a:buNone/>
            </a:pPr>
            <a:r>
              <a:rPr i="1" lang="en" sz="1100">
                <a:solidFill>
                  <a:srgbClr val="000000"/>
                </a:solidFill>
                <a:latin typeface="Spectral"/>
                <a:ea typeface="Spectral"/>
                <a:cs typeface="Spectral"/>
                <a:sym typeface="Spectral"/>
              </a:rPr>
              <a:t> This workflow reduces manual effort for the kiosk manager, who no longer needs to check forecasts or guess demand each morning, freeing up time for higher-value tasks and improving consistency in daily planning. It improves decision quality by combining real-time weather data with AI-generated recommendations, helping align product mix, staffing levels, and promotions with actual conditions at the beach, which can boost sales and reduce waste for a weather-sensitive business. It also supports better customer experience and revenue potential over time, because the kiosk is more likely to have the right items stocked, the right number of staff on shift, and timely weather-tailored promotions that attract customers on hot, rainy, or stormy days.</a:t>
            </a:r>
            <a:endParaRPr i="1" sz="1100">
              <a:solidFill>
                <a:srgbClr val="000000"/>
              </a:solidFill>
              <a:latin typeface="Spectral"/>
              <a:ea typeface="Spectral"/>
              <a:cs typeface="Spectral"/>
              <a:sym typeface="Spectral"/>
            </a:endParaRPr>
          </a:p>
        </p:txBody>
      </p:sp>
      <p:sp>
        <p:nvSpPr>
          <p:cNvPr id="333" name="Google Shape;333;p21"/>
          <p:cNvSpPr txBox="1"/>
          <p:nvPr/>
        </p:nvSpPr>
        <p:spPr>
          <a:xfrm>
            <a:off x="600175" y="187375"/>
            <a:ext cx="3000000" cy="507900"/>
          </a:xfrm>
          <a:prstGeom prst="rect">
            <a:avLst/>
          </a:prstGeom>
          <a:noFill/>
          <a:ln>
            <a:noFill/>
          </a:ln>
          <a:effectLst>
            <a:outerShdw blurRad="228600" rotWithShape="0" algn="bl" dir="11760000" dist="276225">
              <a:srgbClr val="000000"/>
            </a:outerShdw>
          </a:effectLst>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i="1" lang="en" sz="2100">
                <a:latin typeface="Spectral ExtraBold"/>
                <a:ea typeface="Spectral ExtraBold"/>
                <a:cs typeface="Spectral ExtraBold"/>
                <a:sym typeface="Spectral ExtraBold"/>
              </a:rPr>
              <a:t>Benefits</a:t>
            </a:r>
            <a:endParaRPr sz="2300">
              <a:latin typeface="Spectral ExtraBold"/>
              <a:ea typeface="Spectral ExtraBold"/>
              <a:cs typeface="Spectral ExtraBold"/>
              <a:sym typeface="Spectral ExtraBo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37" name="Shape 337"/>
        <p:cNvGrpSpPr/>
        <p:nvPr/>
      </p:nvGrpSpPr>
      <p:grpSpPr>
        <a:xfrm>
          <a:off x="0" y="0"/>
          <a:ext cx="0" cy="0"/>
          <a:chOff x="0" y="0"/>
          <a:chExt cx="0" cy="0"/>
        </a:xfrm>
      </p:grpSpPr>
      <p:sp>
        <p:nvSpPr>
          <p:cNvPr id="338" name="Google Shape;338;p22"/>
          <p:cNvSpPr txBox="1"/>
          <p:nvPr>
            <p:ph idx="1" type="subTitle"/>
          </p:nvPr>
        </p:nvSpPr>
        <p:spPr>
          <a:xfrm>
            <a:off x="347925" y="-313325"/>
            <a:ext cx="4671900" cy="4514700"/>
          </a:xfrm>
          <a:prstGeom prst="rect">
            <a:avLst/>
          </a:prstGeom>
        </p:spPr>
        <p:txBody>
          <a:bodyPr anchorCtr="0" anchor="b" bIns="91425" lIns="91425" spcFirstLastPara="1" rIns="91425" wrap="square" tIns="91425">
            <a:noAutofit/>
          </a:bodyPr>
          <a:lstStyle/>
          <a:p>
            <a:pPr indent="0" lvl="0" marL="0" marR="0" rtl="0" algn="just">
              <a:lnSpc>
                <a:spcPct val="150000"/>
              </a:lnSpc>
              <a:spcBef>
                <a:spcPts val="1200"/>
              </a:spcBef>
              <a:spcAft>
                <a:spcPts val="0"/>
              </a:spcAft>
              <a:buNone/>
            </a:pPr>
            <a:r>
              <a:t/>
            </a:r>
            <a:endParaRPr i="1" sz="1100">
              <a:solidFill>
                <a:srgbClr val="000000"/>
              </a:solidFill>
              <a:latin typeface="Spectral"/>
              <a:ea typeface="Spectral"/>
              <a:cs typeface="Spectral"/>
              <a:sym typeface="Spectral"/>
            </a:endParaRPr>
          </a:p>
          <a:p>
            <a:pPr indent="0" lvl="0" marL="0" marR="0" rtl="0" algn="just">
              <a:lnSpc>
                <a:spcPct val="150000"/>
              </a:lnSpc>
              <a:spcBef>
                <a:spcPts val="1200"/>
              </a:spcBef>
              <a:spcAft>
                <a:spcPts val="0"/>
              </a:spcAft>
              <a:buNone/>
            </a:pPr>
            <a:r>
              <a:t/>
            </a:r>
            <a:endParaRPr i="1" sz="1300">
              <a:solidFill>
                <a:srgbClr val="000000"/>
              </a:solidFill>
              <a:latin typeface="Spectral"/>
              <a:ea typeface="Spectral"/>
              <a:cs typeface="Spectral"/>
              <a:sym typeface="Spectral"/>
            </a:endParaRPr>
          </a:p>
          <a:p>
            <a:pPr indent="0" lvl="0" marL="0" marR="0" rtl="0" algn="just">
              <a:lnSpc>
                <a:spcPct val="150000"/>
              </a:lnSpc>
              <a:spcBef>
                <a:spcPts val="1200"/>
              </a:spcBef>
              <a:spcAft>
                <a:spcPts val="0"/>
              </a:spcAft>
              <a:buNone/>
            </a:pPr>
            <a:r>
              <a:rPr b="1" i="1" lang="en" sz="1400">
                <a:solidFill>
                  <a:srgbClr val="000000"/>
                </a:solidFill>
                <a:latin typeface="Spectral"/>
                <a:ea typeface="Spectral"/>
                <a:cs typeface="Spectral"/>
                <a:sym typeface="Spectral"/>
              </a:rPr>
              <a:t> Severe Weather Alert ⚠️</a:t>
            </a:r>
            <a:endParaRPr b="1" i="1" sz="1400">
              <a:solidFill>
                <a:srgbClr val="000000"/>
              </a:solidFill>
              <a:latin typeface="Spectral"/>
              <a:ea typeface="Spectral"/>
              <a:cs typeface="Spectral"/>
              <a:sym typeface="Spectral"/>
            </a:endParaRPr>
          </a:p>
          <a:p>
            <a:pPr indent="0" lvl="0" marL="0" marR="0" rtl="0" algn="just">
              <a:lnSpc>
                <a:spcPct val="150000"/>
              </a:lnSpc>
              <a:spcBef>
                <a:spcPts val="1200"/>
              </a:spcBef>
              <a:spcAft>
                <a:spcPts val="0"/>
              </a:spcAft>
              <a:buNone/>
            </a:pPr>
            <a:r>
              <a:rPr i="1" lang="en" sz="1100">
                <a:solidFill>
                  <a:srgbClr val="000000"/>
                </a:solidFill>
                <a:latin typeface="Spectral"/>
                <a:ea typeface="Spectral"/>
                <a:cs typeface="Spectral"/>
                <a:sym typeface="Spectral"/>
              </a:rPr>
              <a:t>Filter step that triggers if:  Temperature &gt; 91°F, OR Description contains "storm" or "rain".</a:t>
            </a:r>
            <a:endParaRPr i="1" sz="1100">
              <a:solidFill>
                <a:srgbClr val="000000"/>
              </a:solidFill>
              <a:latin typeface="Spectral"/>
              <a:ea typeface="Spectral"/>
              <a:cs typeface="Spectral"/>
              <a:sym typeface="Spectral"/>
            </a:endParaRPr>
          </a:p>
          <a:p>
            <a:pPr indent="-298450" lvl="0" marL="457200" marR="0" rtl="0" algn="just">
              <a:lnSpc>
                <a:spcPct val="150000"/>
              </a:lnSpc>
              <a:spcBef>
                <a:spcPts val="1200"/>
              </a:spcBef>
              <a:spcAft>
                <a:spcPts val="0"/>
              </a:spcAft>
              <a:buClr>
                <a:srgbClr val="000000"/>
              </a:buClr>
              <a:buSzPts val="1100"/>
              <a:buFont typeface="Spectral"/>
              <a:buChar char="●"/>
            </a:pPr>
            <a:r>
              <a:rPr i="1" lang="en" sz="1100">
                <a:solidFill>
                  <a:srgbClr val="000000"/>
                </a:solidFill>
                <a:latin typeface="Spectral"/>
                <a:ea typeface="Spectral"/>
                <a:cs typeface="Spectral"/>
                <a:sym typeface="Spectral"/>
              </a:rPr>
              <a:t>Sends immediate alert email to the manager</a:t>
            </a:r>
            <a:endParaRPr i="1" sz="1100">
              <a:solidFill>
                <a:srgbClr val="000000"/>
              </a:solidFill>
              <a:latin typeface="Spectral"/>
              <a:ea typeface="Spectral"/>
              <a:cs typeface="Spectral"/>
              <a:sym typeface="Spectral"/>
            </a:endParaRPr>
          </a:p>
          <a:p>
            <a:pPr indent="-298450" lvl="0" marL="457200" marR="0" rtl="0" algn="just">
              <a:lnSpc>
                <a:spcPct val="150000"/>
              </a:lnSpc>
              <a:spcBef>
                <a:spcPts val="0"/>
              </a:spcBef>
              <a:spcAft>
                <a:spcPts val="0"/>
              </a:spcAft>
              <a:buClr>
                <a:srgbClr val="000000"/>
              </a:buClr>
              <a:buSzPts val="1100"/>
              <a:buFont typeface="Spectral"/>
              <a:buChar char="●"/>
            </a:pPr>
            <a:r>
              <a:rPr i="1" lang="en" sz="1100">
                <a:solidFill>
                  <a:srgbClr val="000000"/>
                </a:solidFill>
                <a:latin typeface="Spectral"/>
                <a:ea typeface="Spectral"/>
                <a:cs typeface="Spectral"/>
                <a:sym typeface="Spectral"/>
              </a:rPr>
              <a:t>Includes quick operational adjustments for extreme heat or storms</a:t>
            </a:r>
            <a:endParaRPr i="1" sz="1100">
              <a:solidFill>
                <a:srgbClr val="000000"/>
              </a:solidFill>
              <a:latin typeface="Spectral"/>
              <a:ea typeface="Spectral"/>
              <a:cs typeface="Spectral"/>
              <a:sym typeface="Spectral"/>
            </a:endParaRPr>
          </a:p>
          <a:p>
            <a:pPr indent="0" lvl="0" marL="0" marR="0" rtl="0" algn="just">
              <a:lnSpc>
                <a:spcPct val="150000"/>
              </a:lnSpc>
              <a:spcBef>
                <a:spcPts val="1200"/>
              </a:spcBef>
              <a:spcAft>
                <a:spcPts val="0"/>
              </a:spcAft>
              <a:buNone/>
            </a:pPr>
            <a:r>
              <a:rPr i="1" lang="en" sz="1100">
                <a:solidFill>
                  <a:srgbClr val="000000"/>
                </a:solidFill>
                <a:latin typeface="Spectral"/>
                <a:ea typeface="Spectral"/>
                <a:cs typeface="Spectral"/>
                <a:sym typeface="Spectral"/>
              </a:rPr>
              <a:t>It goes beyond the basic 5-step workflow (Schedule → Weather API → AI Analysis → Email) and adds intelligent conditional logic to handle edge cases.</a:t>
            </a:r>
            <a:endParaRPr sz="1200">
              <a:solidFill>
                <a:srgbClr val="000000"/>
              </a:solidFill>
              <a:latin typeface="Roboto"/>
              <a:ea typeface="Roboto"/>
              <a:cs typeface="Roboto"/>
              <a:sym typeface="Roboto"/>
            </a:endParaRPr>
          </a:p>
          <a:p>
            <a:pPr indent="0" lvl="0" marL="0" rtl="0" algn="just">
              <a:lnSpc>
                <a:spcPct val="150000"/>
              </a:lnSpc>
              <a:spcBef>
                <a:spcPts val="1200"/>
              </a:spcBef>
              <a:spcAft>
                <a:spcPts val="1200"/>
              </a:spcAft>
              <a:buNone/>
            </a:pPr>
            <a:r>
              <a:t/>
            </a:r>
            <a:endParaRPr i="1" sz="1100">
              <a:solidFill>
                <a:srgbClr val="000000"/>
              </a:solidFill>
              <a:latin typeface="Spectral"/>
              <a:ea typeface="Spectral"/>
              <a:cs typeface="Spectral"/>
              <a:sym typeface="Spectral"/>
            </a:endParaRPr>
          </a:p>
        </p:txBody>
      </p:sp>
      <p:sp>
        <p:nvSpPr>
          <p:cNvPr id="339" name="Google Shape;339;p22"/>
          <p:cNvSpPr txBox="1"/>
          <p:nvPr/>
        </p:nvSpPr>
        <p:spPr>
          <a:xfrm>
            <a:off x="347925" y="272525"/>
            <a:ext cx="3000000" cy="507900"/>
          </a:xfrm>
          <a:prstGeom prst="rect">
            <a:avLst/>
          </a:prstGeom>
          <a:noFill/>
          <a:ln>
            <a:noFill/>
          </a:ln>
          <a:effectLst>
            <a:outerShdw blurRad="228600" rotWithShape="0" algn="bl" dir="11760000" dist="276225">
              <a:srgbClr val="000000"/>
            </a:outerShdw>
          </a:effectLst>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i="1" lang="en" sz="2100">
                <a:latin typeface="Spectral ExtraBold"/>
                <a:ea typeface="Spectral ExtraBold"/>
                <a:cs typeface="Spectral ExtraBold"/>
                <a:sym typeface="Spectral ExtraBold"/>
              </a:rPr>
              <a:t>Optional Extras</a:t>
            </a:r>
            <a:endParaRPr sz="2300">
              <a:latin typeface="Spectral ExtraBold"/>
              <a:ea typeface="Spectral ExtraBold"/>
              <a:cs typeface="Spectral ExtraBold"/>
              <a:sym typeface="Spectral ExtraBo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43" name="Shape 343"/>
        <p:cNvGrpSpPr/>
        <p:nvPr/>
      </p:nvGrpSpPr>
      <p:grpSpPr>
        <a:xfrm>
          <a:off x="0" y="0"/>
          <a:ext cx="0" cy="0"/>
          <a:chOff x="0" y="0"/>
          <a:chExt cx="0" cy="0"/>
        </a:xfrm>
      </p:grpSpPr>
      <p:sp>
        <p:nvSpPr>
          <p:cNvPr id="344" name="Google Shape;344;p23"/>
          <p:cNvSpPr txBox="1"/>
          <p:nvPr>
            <p:ph idx="1" type="subTitle"/>
          </p:nvPr>
        </p:nvSpPr>
        <p:spPr>
          <a:xfrm>
            <a:off x="94475" y="1224850"/>
            <a:ext cx="3695700" cy="3998400"/>
          </a:xfrm>
          <a:prstGeom prst="rect">
            <a:avLst/>
          </a:prstGeom>
        </p:spPr>
        <p:txBody>
          <a:bodyPr anchorCtr="0" anchor="b" bIns="91425" lIns="91425" spcFirstLastPara="1" rIns="91425" wrap="square" tIns="91425">
            <a:noAutofit/>
          </a:bodyPr>
          <a:lstStyle/>
          <a:p>
            <a:pPr indent="0" lvl="0" marL="0" rtl="0" algn="just">
              <a:lnSpc>
                <a:spcPct val="150000"/>
              </a:lnSpc>
              <a:spcBef>
                <a:spcPts val="1200"/>
              </a:spcBef>
              <a:spcAft>
                <a:spcPts val="1200"/>
              </a:spcAft>
              <a:buNone/>
            </a:pPr>
            <a:r>
              <a:rPr i="1" lang="en" sz="1200">
                <a:solidFill>
                  <a:srgbClr val="000000"/>
                </a:solidFill>
                <a:latin typeface="Spectral"/>
                <a:ea typeface="Spectral"/>
                <a:cs typeface="Spectral"/>
                <a:sym typeface="Spectral"/>
              </a:rPr>
              <a:t>  </a:t>
            </a:r>
            <a:r>
              <a:rPr i="1" lang="en" sz="900">
                <a:solidFill>
                  <a:srgbClr val="000000"/>
                </a:solidFill>
                <a:latin typeface="Spectral"/>
                <a:ea typeface="Spectral"/>
                <a:cs typeface="Spectral"/>
                <a:sym typeface="Spectral"/>
              </a:rPr>
              <a:t>T</a:t>
            </a:r>
            <a:endParaRPr i="1" sz="1200">
              <a:solidFill>
                <a:srgbClr val="000000"/>
              </a:solidFill>
              <a:latin typeface="Spectral"/>
              <a:ea typeface="Spectral"/>
              <a:cs typeface="Spectral"/>
              <a:sym typeface="Spectral"/>
            </a:endParaRPr>
          </a:p>
        </p:txBody>
      </p:sp>
      <p:sp>
        <p:nvSpPr>
          <p:cNvPr id="345" name="Google Shape;345;p23"/>
          <p:cNvSpPr txBox="1"/>
          <p:nvPr/>
        </p:nvSpPr>
        <p:spPr>
          <a:xfrm>
            <a:off x="161800" y="308325"/>
            <a:ext cx="1329300" cy="569400"/>
          </a:xfrm>
          <a:prstGeom prst="rect">
            <a:avLst/>
          </a:prstGeom>
          <a:noFill/>
          <a:ln>
            <a:noFill/>
          </a:ln>
          <a:effectLst>
            <a:outerShdw blurRad="228600" rotWithShape="0" algn="bl" dir="11760000" dist="276225">
              <a:srgbClr val="000000"/>
            </a:outerShdw>
          </a:effectLst>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t/>
            </a:r>
            <a:endParaRPr sz="2500">
              <a:latin typeface="Spectral ExtraBold"/>
              <a:ea typeface="Spectral ExtraBold"/>
              <a:cs typeface="Spectral ExtraBold"/>
              <a:sym typeface="Spectral ExtraBold"/>
            </a:endParaRPr>
          </a:p>
        </p:txBody>
      </p:sp>
      <p:pic>
        <p:nvPicPr>
          <p:cNvPr id="346" name="Google Shape;346;p23"/>
          <p:cNvPicPr preferRelativeResize="0"/>
          <p:nvPr/>
        </p:nvPicPr>
        <p:blipFill>
          <a:blip r:embed="rId3">
            <a:alphaModFix/>
          </a:blip>
          <a:stretch>
            <a:fillRect/>
          </a:stretch>
        </p:blipFill>
        <p:spPr>
          <a:xfrm>
            <a:off x="1336100" y="152400"/>
            <a:ext cx="5788580" cy="48387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50" name="Shape 350"/>
        <p:cNvGrpSpPr/>
        <p:nvPr/>
      </p:nvGrpSpPr>
      <p:grpSpPr>
        <a:xfrm>
          <a:off x="0" y="0"/>
          <a:ext cx="0" cy="0"/>
          <a:chOff x="0" y="0"/>
          <a:chExt cx="0" cy="0"/>
        </a:xfrm>
      </p:grpSpPr>
      <p:sp>
        <p:nvSpPr>
          <p:cNvPr id="351" name="Google Shape;351;p24"/>
          <p:cNvSpPr txBox="1"/>
          <p:nvPr>
            <p:ph idx="1" type="subTitle"/>
          </p:nvPr>
        </p:nvSpPr>
        <p:spPr>
          <a:xfrm>
            <a:off x="94475" y="1224850"/>
            <a:ext cx="3695700" cy="3998400"/>
          </a:xfrm>
          <a:prstGeom prst="rect">
            <a:avLst/>
          </a:prstGeom>
        </p:spPr>
        <p:txBody>
          <a:bodyPr anchorCtr="0" anchor="b" bIns="91425" lIns="91425" spcFirstLastPara="1" rIns="91425" wrap="square" tIns="91425">
            <a:noAutofit/>
          </a:bodyPr>
          <a:lstStyle/>
          <a:p>
            <a:pPr indent="0" lvl="0" marL="0" rtl="0" algn="just">
              <a:lnSpc>
                <a:spcPct val="150000"/>
              </a:lnSpc>
              <a:spcBef>
                <a:spcPts val="1200"/>
              </a:spcBef>
              <a:spcAft>
                <a:spcPts val="1200"/>
              </a:spcAft>
              <a:buNone/>
            </a:pPr>
            <a:r>
              <a:rPr i="1" lang="en" sz="1200">
                <a:solidFill>
                  <a:srgbClr val="000000"/>
                </a:solidFill>
                <a:latin typeface="Spectral"/>
                <a:ea typeface="Spectral"/>
                <a:cs typeface="Spectral"/>
                <a:sym typeface="Spectral"/>
              </a:rPr>
              <a:t>  </a:t>
            </a:r>
            <a:r>
              <a:rPr i="1" lang="en" sz="900">
                <a:solidFill>
                  <a:srgbClr val="000000"/>
                </a:solidFill>
                <a:latin typeface="Spectral"/>
                <a:ea typeface="Spectral"/>
                <a:cs typeface="Spectral"/>
                <a:sym typeface="Spectral"/>
              </a:rPr>
              <a:t>T</a:t>
            </a:r>
            <a:endParaRPr i="1" sz="1200">
              <a:solidFill>
                <a:srgbClr val="000000"/>
              </a:solidFill>
              <a:latin typeface="Spectral"/>
              <a:ea typeface="Spectral"/>
              <a:cs typeface="Spectral"/>
              <a:sym typeface="Spectral"/>
            </a:endParaRPr>
          </a:p>
        </p:txBody>
      </p:sp>
      <p:sp>
        <p:nvSpPr>
          <p:cNvPr id="352" name="Google Shape;352;p24"/>
          <p:cNvSpPr txBox="1"/>
          <p:nvPr/>
        </p:nvSpPr>
        <p:spPr>
          <a:xfrm>
            <a:off x="161800" y="308325"/>
            <a:ext cx="1329300" cy="569400"/>
          </a:xfrm>
          <a:prstGeom prst="rect">
            <a:avLst/>
          </a:prstGeom>
          <a:noFill/>
          <a:ln>
            <a:noFill/>
          </a:ln>
          <a:effectLst>
            <a:outerShdw blurRad="228600" rotWithShape="0" algn="bl" dir="11760000" dist="276225">
              <a:srgbClr val="000000"/>
            </a:outerShdw>
          </a:effectLst>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t/>
            </a:r>
            <a:endParaRPr sz="2500">
              <a:latin typeface="Spectral ExtraBold"/>
              <a:ea typeface="Spectral ExtraBold"/>
              <a:cs typeface="Spectral ExtraBold"/>
              <a:sym typeface="Spectral ExtraBold"/>
            </a:endParaRPr>
          </a:p>
        </p:txBody>
      </p:sp>
      <p:pic>
        <p:nvPicPr>
          <p:cNvPr id="353" name="Google Shape;353;p24"/>
          <p:cNvPicPr preferRelativeResize="0"/>
          <p:nvPr/>
        </p:nvPicPr>
        <p:blipFill>
          <a:blip r:embed="rId3">
            <a:alphaModFix/>
          </a:blip>
          <a:stretch>
            <a:fillRect/>
          </a:stretch>
        </p:blipFill>
        <p:spPr>
          <a:xfrm>
            <a:off x="527100" y="152400"/>
            <a:ext cx="6484572" cy="483870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57" name="Shape 357"/>
        <p:cNvGrpSpPr/>
        <p:nvPr/>
      </p:nvGrpSpPr>
      <p:grpSpPr>
        <a:xfrm>
          <a:off x="0" y="0"/>
          <a:ext cx="0" cy="0"/>
          <a:chOff x="0" y="0"/>
          <a:chExt cx="0" cy="0"/>
        </a:xfrm>
      </p:grpSpPr>
      <p:sp>
        <p:nvSpPr>
          <p:cNvPr id="358" name="Google Shape;358;p25"/>
          <p:cNvSpPr txBox="1"/>
          <p:nvPr>
            <p:ph idx="1" type="subTitle"/>
          </p:nvPr>
        </p:nvSpPr>
        <p:spPr>
          <a:xfrm>
            <a:off x="94475" y="1224850"/>
            <a:ext cx="3695700" cy="3998400"/>
          </a:xfrm>
          <a:prstGeom prst="rect">
            <a:avLst/>
          </a:prstGeom>
        </p:spPr>
        <p:txBody>
          <a:bodyPr anchorCtr="0" anchor="b" bIns="91425" lIns="91425" spcFirstLastPara="1" rIns="91425" wrap="square" tIns="91425">
            <a:noAutofit/>
          </a:bodyPr>
          <a:lstStyle/>
          <a:p>
            <a:pPr indent="0" lvl="0" marL="0" rtl="0" algn="just">
              <a:lnSpc>
                <a:spcPct val="150000"/>
              </a:lnSpc>
              <a:spcBef>
                <a:spcPts val="1200"/>
              </a:spcBef>
              <a:spcAft>
                <a:spcPts val="1200"/>
              </a:spcAft>
              <a:buNone/>
            </a:pPr>
            <a:r>
              <a:rPr i="1" lang="en" sz="1200">
                <a:solidFill>
                  <a:srgbClr val="000000"/>
                </a:solidFill>
                <a:latin typeface="Spectral"/>
                <a:ea typeface="Spectral"/>
                <a:cs typeface="Spectral"/>
                <a:sym typeface="Spectral"/>
              </a:rPr>
              <a:t>  </a:t>
            </a:r>
            <a:r>
              <a:rPr i="1" lang="en" sz="900">
                <a:solidFill>
                  <a:srgbClr val="000000"/>
                </a:solidFill>
                <a:latin typeface="Spectral"/>
                <a:ea typeface="Spectral"/>
                <a:cs typeface="Spectral"/>
                <a:sym typeface="Spectral"/>
              </a:rPr>
              <a:t>T</a:t>
            </a:r>
            <a:endParaRPr i="1" sz="1200">
              <a:solidFill>
                <a:srgbClr val="000000"/>
              </a:solidFill>
              <a:latin typeface="Spectral"/>
              <a:ea typeface="Spectral"/>
              <a:cs typeface="Spectral"/>
              <a:sym typeface="Spectral"/>
            </a:endParaRPr>
          </a:p>
        </p:txBody>
      </p:sp>
      <p:sp>
        <p:nvSpPr>
          <p:cNvPr id="359" name="Google Shape;359;p25"/>
          <p:cNvSpPr txBox="1"/>
          <p:nvPr/>
        </p:nvSpPr>
        <p:spPr>
          <a:xfrm>
            <a:off x="161800" y="308325"/>
            <a:ext cx="1329300" cy="569400"/>
          </a:xfrm>
          <a:prstGeom prst="rect">
            <a:avLst/>
          </a:prstGeom>
          <a:noFill/>
          <a:ln>
            <a:noFill/>
          </a:ln>
          <a:effectLst>
            <a:outerShdw blurRad="228600" rotWithShape="0" algn="bl" dir="11760000" dist="276225">
              <a:srgbClr val="000000"/>
            </a:outerShdw>
          </a:effectLst>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t/>
            </a:r>
            <a:endParaRPr sz="2500">
              <a:latin typeface="Spectral ExtraBold"/>
              <a:ea typeface="Spectral ExtraBold"/>
              <a:cs typeface="Spectral ExtraBold"/>
              <a:sym typeface="Spectral ExtraBold"/>
            </a:endParaRPr>
          </a:p>
        </p:txBody>
      </p:sp>
      <p:pic>
        <p:nvPicPr>
          <p:cNvPr id="360" name="Google Shape;360;p25"/>
          <p:cNvPicPr preferRelativeResize="0"/>
          <p:nvPr/>
        </p:nvPicPr>
        <p:blipFill>
          <a:blip r:embed="rId3">
            <a:alphaModFix/>
          </a:blip>
          <a:stretch>
            <a:fillRect/>
          </a:stretch>
        </p:blipFill>
        <p:spPr>
          <a:xfrm>
            <a:off x="1600075" y="91925"/>
            <a:ext cx="6133787" cy="48387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64" name="Shape 364"/>
        <p:cNvGrpSpPr/>
        <p:nvPr/>
      </p:nvGrpSpPr>
      <p:grpSpPr>
        <a:xfrm>
          <a:off x="0" y="0"/>
          <a:ext cx="0" cy="0"/>
          <a:chOff x="0" y="0"/>
          <a:chExt cx="0" cy="0"/>
        </a:xfrm>
      </p:grpSpPr>
      <p:sp>
        <p:nvSpPr>
          <p:cNvPr id="365" name="Google Shape;365;p26"/>
          <p:cNvSpPr txBox="1"/>
          <p:nvPr>
            <p:ph idx="1" type="subTitle"/>
          </p:nvPr>
        </p:nvSpPr>
        <p:spPr>
          <a:xfrm>
            <a:off x="216975" y="129525"/>
            <a:ext cx="7609800" cy="5178900"/>
          </a:xfrm>
          <a:prstGeom prst="rect">
            <a:avLst/>
          </a:prstGeom>
        </p:spPr>
        <p:txBody>
          <a:bodyPr anchorCtr="0" anchor="b" bIns="91425" lIns="91425" spcFirstLastPara="1" rIns="91425" wrap="square" tIns="91425">
            <a:noAutofit/>
          </a:bodyPr>
          <a:lstStyle/>
          <a:p>
            <a:pPr indent="0" lvl="0" marL="0" marR="0" rtl="0" algn="just">
              <a:lnSpc>
                <a:spcPct val="150000"/>
              </a:lnSpc>
              <a:spcBef>
                <a:spcPts val="1200"/>
              </a:spcBef>
              <a:spcAft>
                <a:spcPts val="0"/>
              </a:spcAft>
              <a:buNone/>
            </a:pPr>
            <a:r>
              <a:t/>
            </a:r>
            <a:endParaRPr i="1" sz="1000">
              <a:solidFill>
                <a:srgbClr val="000000"/>
              </a:solidFill>
              <a:latin typeface="Spectral"/>
              <a:ea typeface="Spectral"/>
              <a:cs typeface="Spectral"/>
              <a:sym typeface="Spectral"/>
            </a:endParaRPr>
          </a:p>
          <a:p>
            <a:pPr indent="0" lvl="0" marL="0" marR="0" rtl="0" algn="just">
              <a:lnSpc>
                <a:spcPct val="100000"/>
              </a:lnSpc>
              <a:spcBef>
                <a:spcPts val="1200"/>
              </a:spcBef>
              <a:spcAft>
                <a:spcPts val="0"/>
              </a:spcAft>
              <a:buNone/>
            </a:pPr>
            <a:r>
              <a:rPr b="1" i="1" lang="en" sz="1200">
                <a:solidFill>
                  <a:srgbClr val="000000"/>
                </a:solidFill>
                <a:latin typeface="Spectral"/>
                <a:ea typeface="Spectral"/>
                <a:cs typeface="Spectral"/>
                <a:sym typeface="Spectral"/>
              </a:rPr>
              <a:t>What worked well</a:t>
            </a:r>
            <a:endParaRPr b="1" i="1" sz="1200">
              <a:solidFill>
                <a:srgbClr val="000000"/>
              </a:solidFill>
              <a:latin typeface="Spectral"/>
              <a:ea typeface="Spectral"/>
              <a:cs typeface="Spectral"/>
              <a:sym typeface="Spectral"/>
            </a:endParaRPr>
          </a:p>
          <a:p>
            <a:pPr indent="-292100" lvl="0" marL="457200" marR="0" rtl="0" algn="just">
              <a:lnSpc>
                <a:spcPct val="150000"/>
              </a:lnSpc>
              <a:spcBef>
                <a:spcPts val="1200"/>
              </a:spcBef>
              <a:spcAft>
                <a:spcPts val="0"/>
              </a:spcAft>
              <a:buClr>
                <a:srgbClr val="000000"/>
              </a:buClr>
              <a:buSzPts val="1000"/>
              <a:buFont typeface="Spectral"/>
              <a:buChar char="●"/>
            </a:pPr>
            <a:r>
              <a:rPr i="1" lang="en" sz="1000">
                <a:solidFill>
                  <a:srgbClr val="000000"/>
                </a:solidFill>
                <a:latin typeface="Spectral"/>
                <a:ea typeface="Spectral"/>
                <a:cs typeface="Spectral"/>
                <a:sym typeface="Spectral"/>
              </a:rPr>
              <a:t>The daily 7:00 AM schedule made the process fully hands-off, so the manager consistently receives a plan before opening without needing to remember anything.​</a:t>
            </a:r>
            <a:endParaRPr i="1" sz="1000">
              <a:solidFill>
                <a:srgbClr val="000000"/>
              </a:solidFill>
              <a:latin typeface="Spectral"/>
              <a:ea typeface="Spectral"/>
              <a:cs typeface="Spectral"/>
              <a:sym typeface="Spectral"/>
            </a:endParaRPr>
          </a:p>
          <a:p>
            <a:pPr indent="-292100" lvl="0" marL="457200" marR="0" rtl="0" algn="just">
              <a:lnSpc>
                <a:spcPct val="150000"/>
              </a:lnSpc>
              <a:spcBef>
                <a:spcPts val="0"/>
              </a:spcBef>
              <a:spcAft>
                <a:spcPts val="0"/>
              </a:spcAft>
              <a:buClr>
                <a:srgbClr val="000000"/>
              </a:buClr>
              <a:buSzPts val="1000"/>
              <a:buFont typeface="Spectral"/>
              <a:buChar char="●"/>
            </a:pPr>
            <a:r>
              <a:rPr i="1" lang="en" sz="1000">
                <a:solidFill>
                  <a:srgbClr val="000000"/>
                </a:solidFill>
                <a:latin typeface="Spectral"/>
                <a:ea typeface="Spectral"/>
                <a:cs typeface="Spectral"/>
                <a:sym typeface="Spectral"/>
              </a:rPr>
              <a:t>Integrating OpenWeather with Zapier Webhooks and Gemini created a smooth data flow from raw weather information to actionable, AI-generated recommendations in one automated chain.​</a:t>
            </a:r>
            <a:endParaRPr i="1" sz="1000">
              <a:solidFill>
                <a:srgbClr val="000000"/>
              </a:solidFill>
              <a:latin typeface="Spectral"/>
              <a:ea typeface="Spectral"/>
              <a:cs typeface="Spectral"/>
              <a:sym typeface="Spectral"/>
            </a:endParaRPr>
          </a:p>
          <a:p>
            <a:pPr indent="-292100" lvl="0" marL="457200" marR="0" rtl="0" algn="just">
              <a:lnSpc>
                <a:spcPct val="150000"/>
              </a:lnSpc>
              <a:spcBef>
                <a:spcPts val="0"/>
              </a:spcBef>
              <a:spcAft>
                <a:spcPts val="0"/>
              </a:spcAft>
              <a:buClr>
                <a:srgbClr val="000000"/>
              </a:buClr>
              <a:buSzPts val="1000"/>
              <a:buFont typeface="Spectral"/>
              <a:buChar char="●"/>
            </a:pPr>
            <a:r>
              <a:rPr i="1" lang="en" sz="1000">
                <a:solidFill>
                  <a:srgbClr val="000000"/>
                </a:solidFill>
                <a:latin typeface="Spectral"/>
                <a:ea typeface="Spectral"/>
                <a:cs typeface="Spectral"/>
                <a:sym typeface="Spectral"/>
              </a:rPr>
              <a:t>Clear testing (Postman for the API, Zap tests, and email checks) helped ensure reliability, which is a key success factor in workflow automation projects.​</a:t>
            </a:r>
            <a:endParaRPr i="1" sz="1000">
              <a:solidFill>
                <a:srgbClr val="000000"/>
              </a:solidFill>
              <a:latin typeface="Spectral"/>
              <a:ea typeface="Spectral"/>
              <a:cs typeface="Spectral"/>
              <a:sym typeface="Spectral"/>
            </a:endParaRPr>
          </a:p>
          <a:p>
            <a:pPr indent="0" lvl="0" marL="0" marR="0" rtl="0" algn="just">
              <a:lnSpc>
                <a:spcPct val="150000"/>
              </a:lnSpc>
              <a:spcBef>
                <a:spcPts val="1200"/>
              </a:spcBef>
              <a:spcAft>
                <a:spcPts val="0"/>
              </a:spcAft>
              <a:buNone/>
            </a:pPr>
            <a:r>
              <a:rPr b="1" i="1" lang="en" sz="1200">
                <a:solidFill>
                  <a:srgbClr val="000000"/>
                </a:solidFill>
                <a:latin typeface="Spectral"/>
                <a:ea typeface="Spectral"/>
                <a:cs typeface="Spectral"/>
                <a:sym typeface="Spectral"/>
              </a:rPr>
              <a:t>What could be improved with more time/tools</a:t>
            </a:r>
            <a:endParaRPr b="1" i="1" sz="1200">
              <a:solidFill>
                <a:srgbClr val="000000"/>
              </a:solidFill>
              <a:latin typeface="Spectral"/>
              <a:ea typeface="Spectral"/>
              <a:cs typeface="Spectral"/>
              <a:sym typeface="Spectral"/>
            </a:endParaRPr>
          </a:p>
          <a:p>
            <a:pPr indent="-292100" lvl="0" marL="457200" marR="0" rtl="0" algn="just">
              <a:lnSpc>
                <a:spcPct val="150000"/>
              </a:lnSpc>
              <a:spcBef>
                <a:spcPts val="1200"/>
              </a:spcBef>
              <a:spcAft>
                <a:spcPts val="0"/>
              </a:spcAft>
              <a:buClr>
                <a:srgbClr val="000000"/>
              </a:buClr>
              <a:buSzPts val="1000"/>
              <a:buFont typeface="Spectral"/>
              <a:buChar char="●"/>
            </a:pPr>
            <a:r>
              <a:rPr i="1" lang="en" sz="1000">
                <a:solidFill>
                  <a:srgbClr val="000000"/>
                </a:solidFill>
                <a:latin typeface="Spectral"/>
                <a:ea typeface="Spectral"/>
                <a:cs typeface="Spectral"/>
                <a:sym typeface="Spectral"/>
              </a:rPr>
              <a:t>Add monitoring and logs (e.g., log weather, AI output, and sales) to analyze performance over time and refine prompts and rules based on real data.​</a:t>
            </a:r>
            <a:endParaRPr i="1" sz="1000">
              <a:solidFill>
                <a:srgbClr val="000000"/>
              </a:solidFill>
              <a:latin typeface="Spectral"/>
              <a:ea typeface="Spectral"/>
              <a:cs typeface="Spectral"/>
              <a:sym typeface="Spectral"/>
            </a:endParaRPr>
          </a:p>
          <a:p>
            <a:pPr indent="-292100" lvl="0" marL="457200" marR="0" rtl="0" algn="just">
              <a:lnSpc>
                <a:spcPct val="150000"/>
              </a:lnSpc>
              <a:spcBef>
                <a:spcPts val="0"/>
              </a:spcBef>
              <a:spcAft>
                <a:spcPts val="0"/>
              </a:spcAft>
              <a:buClr>
                <a:srgbClr val="000000"/>
              </a:buClr>
              <a:buSzPts val="1000"/>
              <a:buFont typeface="Spectral"/>
              <a:buChar char="●"/>
            </a:pPr>
            <a:r>
              <a:rPr i="1" lang="en" sz="1000">
                <a:solidFill>
                  <a:srgbClr val="000000"/>
                </a:solidFill>
                <a:latin typeface="Spectral"/>
                <a:ea typeface="Spectral"/>
                <a:cs typeface="Spectral"/>
                <a:sym typeface="Spectral"/>
              </a:rPr>
              <a:t>Build resilience and fallbacks, such as using cached or previous-day data if the weather API fails, and adding alerts when a Zap step errors out.​</a:t>
            </a:r>
            <a:endParaRPr i="1" sz="1000">
              <a:solidFill>
                <a:srgbClr val="000000"/>
              </a:solidFill>
              <a:latin typeface="Spectral"/>
              <a:ea typeface="Spectral"/>
              <a:cs typeface="Spectral"/>
              <a:sym typeface="Spectral"/>
            </a:endParaRPr>
          </a:p>
          <a:p>
            <a:pPr indent="-292100" lvl="0" marL="457200" marR="0" rtl="0" algn="just">
              <a:lnSpc>
                <a:spcPct val="150000"/>
              </a:lnSpc>
              <a:spcBef>
                <a:spcPts val="0"/>
              </a:spcBef>
              <a:spcAft>
                <a:spcPts val="0"/>
              </a:spcAft>
              <a:buClr>
                <a:srgbClr val="000000"/>
              </a:buClr>
              <a:buSzPts val="1000"/>
              <a:buFont typeface="Spectral"/>
              <a:buChar char="●"/>
            </a:pPr>
            <a:r>
              <a:rPr i="1" lang="en" sz="1000">
                <a:solidFill>
                  <a:srgbClr val="000000"/>
                </a:solidFill>
                <a:latin typeface="Spectral"/>
                <a:ea typeface="Spectral"/>
                <a:cs typeface="Spectral"/>
                <a:sym typeface="Spectral"/>
              </a:rPr>
              <a:t>Scale and enrich the workflow by supporting multiple kiosk locations, integrating inventory systems, and adding dashboards to visualize impact and KPIs</a:t>
            </a:r>
            <a:endParaRPr i="1" sz="1000">
              <a:solidFill>
                <a:srgbClr val="000000"/>
              </a:solidFill>
              <a:latin typeface="Spectral"/>
              <a:ea typeface="Spectral"/>
              <a:cs typeface="Spectral"/>
              <a:sym typeface="Spectral"/>
            </a:endParaRPr>
          </a:p>
          <a:p>
            <a:pPr indent="0" lvl="0" marL="0" marR="0" rtl="0" algn="just">
              <a:lnSpc>
                <a:spcPct val="150000"/>
              </a:lnSpc>
              <a:spcBef>
                <a:spcPts val="1200"/>
              </a:spcBef>
              <a:spcAft>
                <a:spcPts val="1200"/>
              </a:spcAft>
              <a:buNone/>
            </a:pPr>
            <a:r>
              <a:t/>
            </a:r>
            <a:endParaRPr i="1" sz="1000">
              <a:solidFill>
                <a:srgbClr val="000000"/>
              </a:solidFill>
              <a:latin typeface="Spectral"/>
              <a:ea typeface="Spectral"/>
              <a:cs typeface="Spectral"/>
              <a:sym typeface="Spectral"/>
            </a:endParaRPr>
          </a:p>
        </p:txBody>
      </p:sp>
      <p:sp>
        <p:nvSpPr>
          <p:cNvPr id="366" name="Google Shape;366;p26"/>
          <p:cNvSpPr txBox="1"/>
          <p:nvPr/>
        </p:nvSpPr>
        <p:spPr>
          <a:xfrm>
            <a:off x="600175" y="187375"/>
            <a:ext cx="4535700" cy="507900"/>
          </a:xfrm>
          <a:prstGeom prst="rect">
            <a:avLst/>
          </a:prstGeom>
          <a:noFill/>
          <a:ln>
            <a:noFill/>
          </a:ln>
          <a:effectLst>
            <a:outerShdw blurRad="228600" rotWithShape="0" algn="bl" dir="11760000" dist="276225">
              <a:srgbClr val="000000"/>
            </a:outerShdw>
          </a:effectLst>
        </p:spPr>
        <p:txBody>
          <a:bodyPr anchorCtr="0" anchor="t" bIns="91425" lIns="91425" spcFirstLastPara="1" rIns="91425" wrap="square" tIns="91425">
            <a:spAutoFit/>
          </a:bodyPr>
          <a:lstStyle/>
          <a:p>
            <a:pPr indent="0" lvl="0" marL="0" rtl="0" algn="just">
              <a:lnSpc>
                <a:spcPct val="150000"/>
              </a:lnSpc>
              <a:spcBef>
                <a:spcPts val="1200"/>
              </a:spcBef>
              <a:spcAft>
                <a:spcPts val="1200"/>
              </a:spcAft>
              <a:buNone/>
            </a:pPr>
            <a:r>
              <a:rPr i="1" lang="en" sz="2100">
                <a:latin typeface="Spectral ExtraBold"/>
                <a:ea typeface="Spectral ExtraBold"/>
                <a:cs typeface="Spectral ExtraBold"/>
                <a:sym typeface="Spectral ExtraBold"/>
              </a:rPr>
              <a:t>Challenges &amp; Improvements</a:t>
            </a:r>
            <a:endParaRPr sz="2300">
              <a:latin typeface="Spectral ExtraBold"/>
              <a:ea typeface="Spectral ExtraBold"/>
              <a:cs typeface="Spectral ExtraBold"/>
              <a:sym typeface="Spectral ExtraBo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